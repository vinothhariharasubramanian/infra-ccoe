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8" r:id="rId5"/>
    <p:sldId id="256" r:id="rId6"/>
    <p:sldId id="257" r:id="rId7"/>
    <p:sldId id="260" r:id="rId8"/>
    <p:sldId id="261" r:id="rId9"/>
    <p:sldId id="262" r:id="rId10"/>
    <p:sldId id="264" r:id="rId11"/>
    <p:sldId id="263"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5B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F9BCAC-9855-5D2B-8FF0-8AC48F55785F}" v="2" dt="2025-08-18T09:21:27.1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90" y="-9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CA0391-BB2D-4879-92A6-53C80EE6A3B0}" type="datetimeFigureOut">
              <a:rPr lang="en-GB" smtClean="0"/>
              <a:t>21/10/2025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271A67-12EF-4A47-A7BF-BA67CD2586C4}" type="slidenum">
              <a:rPr lang="en-GB" smtClean="0"/>
              <a:t>‹#›</a:t>
            </a:fld>
            <a:endParaRPr lang="en-GB"/>
          </a:p>
        </p:txBody>
      </p:sp>
    </p:spTree>
    <p:extLst>
      <p:ext uri="{BB962C8B-B14F-4D97-AF65-F5344CB8AC3E}">
        <p14:creationId xmlns:p14="http://schemas.microsoft.com/office/powerpoint/2010/main" val="3985265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a:solidFill>
                  <a:srgbClr val="323130"/>
                </a:solidFill>
                <a:effectLst/>
                <a:highlight>
                  <a:srgbClr val="FFFFFF"/>
                </a:highlight>
                <a:latin typeface="Segoe UI" panose="020B0502040204020203" pitchFamily="34" charset="0"/>
              </a:rPr>
              <a:t>Detail with diagrams the use of;</a:t>
            </a:r>
            <a:br>
              <a:rPr lang="en-GB"/>
            </a:br>
            <a:r>
              <a:rPr lang="en-GB" b="0" i="0">
                <a:solidFill>
                  <a:srgbClr val="323130"/>
                </a:solidFill>
                <a:effectLst/>
                <a:highlight>
                  <a:srgbClr val="FFFFFF"/>
                </a:highlight>
                <a:latin typeface="Segoe UI" panose="020B0502040204020203" pitchFamily="34" charset="0"/>
              </a:rPr>
              <a:t>Encryption, Key Management, Authentication &amp; Authorisation, Privilege Access Management, Identity Management, Web Application Firewall, Network Firewall (NGFW), Network Segmentation (VPC/NSG), Web Proxy, Audit Logging, Time Synchronisation, Security Incident, Event Monitoring, Malware Protection, Application Security Testing, System Hardening baseline verification, Vulnerability Scanning, Security Patching, Information Asset Register, Backup and Recovery, Secure Coding Practices.</a:t>
            </a:r>
          </a:p>
          <a:p>
            <a:endParaRPr lang="en-GB" b="0" i="0">
              <a:solidFill>
                <a:srgbClr val="323130"/>
              </a:solidFill>
              <a:effectLst/>
              <a:highlight>
                <a:srgbClr val="FFFFFF"/>
              </a:highlight>
              <a:latin typeface="Segoe UI" panose="020B0502040204020203" pitchFamily="34" charset="0"/>
            </a:endParaRPr>
          </a:p>
          <a:p>
            <a:r>
              <a:rPr lang="en-GB" b="1" i="0">
                <a:solidFill>
                  <a:srgbClr val="323130"/>
                </a:solidFill>
                <a:effectLst/>
                <a:highlight>
                  <a:srgbClr val="FFFFFF"/>
                </a:highlight>
                <a:latin typeface="Segoe UI" panose="020B0502040204020203" pitchFamily="34" charset="0"/>
              </a:rPr>
              <a:t>Considerations for SAP Projects:</a:t>
            </a:r>
          </a:p>
          <a:p>
            <a:pPr marL="471170" lvl="1" indent="-137795"/>
            <a:r>
              <a:rPr lang="en-GB"/>
              <a:t>What are the impacted SAP backend systems? </a:t>
            </a:r>
          </a:p>
          <a:p>
            <a:pPr marL="471170" lvl="1" indent="-137795"/>
            <a:r>
              <a:rPr lang="en-GB"/>
              <a:t>What are the impacted front-end systems?</a:t>
            </a:r>
          </a:p>
          <a:p>
            <a:pPr marL="471170" lvl="1" indent="-137795"/>
            <a:r>
              <a:rPr lang="en-GB"/>
              <a:t>Does part of the project require code changes? if so, in what systems?</a:t>
            </a:r>
          </a:p>
          <a:p>
            <a:pPr marL="471170" lvl="1" indent="-137795"/>
            <a:r>
              <a:rPr lang="en-GB"/>
              <a:t>What other configuration changes are being made? And on what systems?</a:t>
            </a:r>
          </a:p>
          <a:p>
            <a:pPr marL="471170" lvl="1" indent="-137795"/>
            <a:r>
              <a:rPr lang="en-GB"/>
              <a:t>Are there any new interfaces being deployed by the project? </a:t>
            </a:r>
          </a:p>
          <a:p>
            <a:pPr marL="471170" lvl="1" indent="-137795"/>
            <a:r>
              <a:rPr lang="en-GB"/>
              <a:t>Do the changes include schema changes? If so, what tables are impacted?</a:t>
            </a:r>
            <a:endParaRPr lang="en-GB" b="0" i="0">
              <a:solidFill>
                <a:srgbClr val="323130"/>
              </a:solidFill>
              <a:effectLst/>
              <a:highlight>
                <a:srgbClr val="FFFFFF"/>
              </a:highlight>
              <a:latin typeface="Segoe UI" panose="020B0502040204020203" pitchFamily="34" charset="0"/>
            </a:endParaRPr>
          </a:p>
          <a:p>
            <a:endParaRPr lang="en-GB" b="0" i="0">
              <a:solidFill>
                <a:srgbClr val="323130"/>
              </a:solidFill>
              <a:effectLst/>
              <a:highlight>
                <a:srgbClr val="FFFFFF"/>
              </a:highlight>
              <a:latin typeface="Segoe UI" panose="020B0502040204020203" pitchFamily="34" charset="0"/>
            </a:endParaRPr>
          </a:p>
          <a:p>
            <a:r>
              <a:rPr lang="en-GB" b="1" i="0">
                <a:solidFill>
                  <a:srgbClr val="323130"/>
                </a:solidFill>
                <a:effectLst/>
                <a:highlight>
                  <a:srgbClr val="FFFFFF"/>
                </a:highlight>
                <a:latin typeface="Segoe UI" panose="020B0502040204020203" pitchFamily="34" charset="0"/>
              </a:rPr>
              <a:t>Considerations for Power Platform: </a:t>
            </a:r>
            <a:r>
              <a:rPr lang="en-GB" b="1">
                <a:latin typeface="Calibri"/>
                <a:cs typeface="Calibri"/>
              </a:rPr>
              <a:t>and/or RPA.</a:t>
            </a:r>
          </a:p>
          <a:p>
            <a:pPr marL="171450" indent="-171450">
              <a:buFont typeface="Arial" panose="020B0604020202020204" pitchFamily="34" charset="0"/>
              <a:buChar char="•"/>
            </a:pPr>
            <a:r>
              <a:rPr lang="en-GB" sz="1200">
                <a:latin typeface="Calibri"/>
                <a:cs typeface="Calibri"/>
              </a:rPr>
              <a:t>What connectors are being used? And will there be any external integrations?</a:t>
            </a:r>
            <a:endParaRPr lang="en-GB" sz="1200"/>
          </a:p>
          <a:p>
            <a:pPr marL="171450" indent="-171450">
              <a:buFont typeface="Arial" panose="020B0604020202020204" pitchFamily="34" charset="0"/>
              <a:buChar char="•"/>
            </a:pPr>
            <a:r>
              <a:rPr lang="en-GB" sz="1200">
                <a:latin typeface="Calibri"/>
                <a:cs typeface="Calibri"/>
              </a:rPr>
              <a:t>Which Environment is being used?</a:t>
            </a:r>
          </a:p>
          <a:p>
            <a:pPr marL="171450" indent="-171450">
              <a:buFont typeface="Arial" panose="020B0604020202020204" pitchFamily="34" charset="0"/>
              <a:buChar char="•"/>
            </a:pPr>
            <a:r>
              <a:rPr lang="en-GB" sz="1200">
                <a:latin typeface="Calibri"/>
                <a:cs typeface="Calibri"/>
              </a:rPr>
              <a:t>Are Portals (public access) being used?</a:t>
            </a:r>
          </a:p>
          <a:p>
            <a:pPr marL="171450" indent="-171450">
              <a:buFont typeface="Arial" panose="020B0604020202020204" pitchFamily="34" charset="0"/>
              <a:buChar char="•"/>
            </a:pPr>
            <a:r>
              <a:rPr lang="en-GB" sz="1200">
                <a:latin typeface="Calibri"/>
                <a:cs typeface="Calibri"/>
              </a:rPr>
              <a:t>Is code being used in the flow / app?</a:t>
            </a:r>
          </a:p>
          <a:p>
            <a:pPr marL="171450" indent="-171450">
              <a:buFont typeface="Arial" panose="020B0604020202020204" pitchFamily="34" charset="0"/>
              <a:buChar char="•"/>
            </a:pPr>
            <a:r>
              <a:rPr lang="en-GB" sz="1200">
                <a:latin typeface="Calibri"/>
                <a:cs typeface="Calibri"/>
              </a:rPr>
              <a:t>Who will be the end consumers of the flow / app?</a:t>
            </a:r>
          </a:p>
          <a:p>
            <a:pPr marL="171450" indent="-171450">
              <a:buFont typeface="Arial" panose="020B0604020202020204" pitchFamily="34" charset="0"/>
              <a:buChar char="•"/>
            </a:pPr>
            <a:r>
              <a:rPr lang="en-GB" sz="1200">
                <a:latin typeface="Calibri"/>
                <a:cs typeface="Calibri"/>
              </a:rPr>
              <a:t>How will access control work with this flow/app and it's data?</a:t>
            </a:r>
          </a:p>
          <a:p>
            <a:pPr marL="171450" indent="-171450">
              <a:buFont typeface="Arial" panose="020B0604020202020204" pitchFamily="34" charset="0"/>
              <a:buChar char="•"/>
            </a:pPr>
            <a:r>
              <a:rPr lang="en-GB" sz="1200">
                <a:latin typeface="Calibri"/>
                <a:cs typeface="Calibri"/>
              </a:rPr>
              <a:t>If RPA is being used where will the agent be deployed? What controls surround the agent host? Is all software on the host under a patch management policy?</a:t>
            </a:r>
            <a:endParaRPr lang="en-GB" sz="1200">
              <a:cs typeface="Calibri"/>
            </a:endParaRPr>
          </a:p>
          <a:p>
            <a:pPr marL="171450" indent="-171450">
              <a:buFont typeface="Arial" panose="020B0604020202020204" pitchFamily="34" charset="0"/>
              <a:buChar char="•"/>
            </a:pPr>
            <a:r>
              <a:rPr lang="en-GB" sz="1200">
                <a:latin typeface="Calibri"/>
                <a:cs typeface="Calibri"/>
              </a:rPr>
              <a:t>Is Sensitive data being handled? If so how is this being processed / stored?</a:t>
            </a:r>
            <a:endParaRPr lang="en-GB" sz="1200">
              <a:cs typeface="Calibri"/>
            </a:endParaRPr>
          </a:p>
          <a:p>
            <a:pPr marL="171450" indent="-171450">
              <a:buFont typeface="Arial" panose="020B0604020202020204" pitchFamily="34" charset="0"/>
              <a:buChar char="•"/>
            </a:pPr>
            <a:r>
              <a:rPr lang="en-GB" sz="1200">
                <a:latin typeface="Calibri"/>
                <a:cs typeface="Calibri"/>
              </a:rPr>
              <a:t>How frequently will the Application or Flow change? What sort of change can be expected over time?</a:t>
            </a:r>
            <a:endParaRPr lang="en-GB" sz="1200">
              <a:cs typeface="Calibri"/>
            </a:endParaRPr>
          </a:p>
          <a:p>
            <a:pPr marL="171450" indent="-171450">
              <a:buFont typeface="Arial" panose="020B0604020202020204" pitchFamily="34" charset="0"/>
              <a:buChar char="•"/>
            </a:pPr>
            <a:r>
              <a:rPr lang="en-GB" sz="1200">
                <a:latin typeface="Calibri"/>
                <a:cs typeface="Calibri"/>
              </a:rPr>
              <a:t>Is there any applicable regulatory compliance surrounding the flow / app or data?</a:t>
            </a:r>
            <a:endParaRPr lang="en-GB" sz="1200">
              <a:cs typeface="Calibri"/>
            </a:endParaRPr>
          </a:p>
          <a:p>
            <a:pPr marL="171450" indent="-171450">
              <a:buFont typeface="Arial" panose="020B0604020202020204" pitchFamily="34" charset="0"/>
              <a:buChar char="•"/>
            </a:pPr>
            <a:r>
              <a:rPr lang="en-GB" sz="1200">
                <a:latin typeface="Calibri"/>
                <a:cs typeface="Calibri"/>
              </a:rPr>
              <a:t>What is the exact scope of the requested approval? (</a:t>
            </a:r>
            <a:r>
              <a:rPr lang="en-GB" sz="1200" err="1">
                <a:latin typeface="Calibri"/>
                <a:cs typeface="Calibri"/>
              </a:rPr>
              <a:t>e.g</a:t>
            </a:r>
            <a:r>
              <a:rPr lang="en-GB" sz="1200">
                <a:latin typeface="Calibri"/>
                <a:cs typeface="Calibri"/>
              </a:rPr>
              <a:t> scope of "processing actions" and "data types")</a:t>
            </a:r>
            <a:endParaRPr lang="en-GB" b="0" i="0">
              <a:solidFill>
                <a:srgbClr val="323130"/>
              </a:solidFill>
              <a:effectLst/>
              <a:highlight>
                <a:srgbClr val="FFFFFF"/>
              </a:highlight>
              <a:latin typeface="Segoe UI" panose="020B0502040204020203" pitchFamily="34" charset="0"/>
            </a:endParaRPr>
          </a:p>
          <a:p>
            <a:endParaRPr lang="en-GB"/>
          </a:p>
        </p:txBody>
      </p:sp>
      <p:sp>
        <p:nvSpPr>
          <p:cNvPr id="4" name="Slide Number Placeholder 3"/>
          <p:cNvSpPr>
            <a:spLocks noGrp="1"/>
          </p:cNvSpPr>
          <p:nvPr>
            <p:ph type="sldNum" sz="quarter" idx="5"/>
          </p:nvPr>
        </p:nvSpPr>
        <p:spPr/>
        <p:txBody>
          <a:bodyPr/>
          <a:lstStyle/>
          <a:p>
            <a:fld id="{AD271A67-12EF-4A47-A7BF-BA67CD2586C4}" type="slidenum">
              <a:rPr lang="en-GB" smtClean="0"/>
              <a:t>4</a:t>
            </a:fld>
            <a:endParaRPr lang="en-GB"/>
          </a:p>
        </p:txBody>
      </p:sp>
    </p:spTree>
    <p:extLst>
      <p:ext uri="{BB962C8B-B14F-4D97-AF65-F5344CB8AC3E}">
        <p14:creationId xmlns:p14="http://schemas.microsoft.com/office/powerpoint/2010/main" val="2460055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D271A67-12EF-4A47-A7BF-BA67CD2586C4}" type="slidenum">
              <a:rPr lang="en-GB" smtClean="0"/>
              <a:t>5</a:t>
            </a:fld>
            <a:endParaRPr lang="en-GB"/>
          </a:p>
        </p:txBody>
      </p:sp>
    </p:spTree>
    <p:extLst>
      <p:ext uri="{BB962C8B-B14F-4D97-AF65-F5344CB8AC3E}">
        <p14:creationId xmlns:p14="http://schemas.microsoft.com/office/powerpoint/2010/main" val="3813724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a:solidFill>
                  <a:srgbClr val="323130"/>
                </a:solidFill>
                <a:effectLst/>
                <a:highlight>
                  <a:srgbClr val="FFFFFF"/>
                </a:highlight>
                <a:latin typeface="Segoe UI" panose="020B0502040204020203" pitchFamily="34" charset="0"/>
              </a:rPr>
              <a:t>Detail with diagrams the use of;</a:t>
            </a:r>
            <a:br>
              <a:rPr lang="en-GB"/>
            </a:br>
            <a:r>
              <a:rPr lang="en-GB" b="0" i="0">
                <a:solidFill>
                  <a:srgbClr val="323130"/>
                </a:solidFill>
                <a:effectLst/>
                <a:highlight>
                  <a:srgbClr val="FFFFFF"/>
                </a:highlight>
                <a:latin typeface="Segoe UI" panose="020B0502040204020203" pitchFamily="34" charset="0"/>
              </a:rPr>
              <a:t>Encryption, Key Management, Authentication &amp; Authorisation, Privilege Access Management, Identity Management, Web Application Firewall, Network Firewall (NGFW), Network Segmentation (VPC/NSG), Web Proxy, Audit Logging, Time Synchronisation, Security Incident, Event Monitoring, Malware Protection, Application Security Testing, System Hardening baseline verification, Vulnerability Scanning, Security Patching, Information Asset Register, Backup and Recovery, Secure Coding Practices.</a:t>
            </a:r>
          </a:p>
          <a:p>
            <a:endParaRPr lang="en-GB" b="0" i="0">
              <a:solidFill>
                <a:srgbClr val="323130"/>
              </a:solidFill>
              <a:effectLst/>
              <a:highlight>
                <a:srgbClr val="FFFFFF"/>
              </a:highlight>
              <a:latin typeface="Segoe UI" panose="020B0502040204020203" pitchFamily="34" charset="0"/>
            </a:endParaRPr>
          </a:p>
          <a:p>
            <a:r>
              <a:rPr lang="en-GB" b="1" i="0">
                <a:solidFill>
                  <a:srgbClr val="323130"/>
                </a:solidFill>
                <a:effectLst/>
                <a:highlight>
                  <a:srgbClr val="FFFFFF"/>
                </a:highlight>
                <a:latin typeface="Segoe UI" panose="020B0502040204020203" pitchFamily="34" charset="0"/>
              </a:rPr>
              <a:t>Considerations for SAP Projects:</a:t>
            </a:r>
          </a:p>
          <a:p>
            <a:pPr marL="471170" lvl="1" indent="-137795"/>
            <a:r>
              <a:rPr lang="en-GB"/>
              <a:t>What are the impacted SAP backend systems? </a:t>
            </a:r>
          </a:p>
          <a:p>
            <a:pPr marL="471170" lvl="1" indent="-137795"/>
            <a:r>
              <a:rPr lang="en-GB"/>
              <a:t>What are the impacted front-end systems?</a:t>
            </a:r>
          </a:p>
          <a:p>
            <a:pPr marL="471170" lvl="1" indent="-137795"/>
            <a:r>
              <a:rPr lang="en-GB"/>
              <a:t>Does part of the project require code changes? if so, in what systems?</a:t>
            </a:r>
          </a:p>
          <a:p>
            <a:pPr marL="471170" lvl="1" indent="-137795"/>
            <a:r>
              <a:rPr lang="en-GB"/>
              <a:t>What other configuration changes are being made? And on what systems?</a:t>
            </a:r>
          </a:p>
          <a:p>
            <a:pPr marL="471170" lvl="1" indent="-137795"/>
            <a:r>
              <a:rPr lang="en-GB"/>
              <a:t>Are there any new interfaces being deployed by the project? </a:t>
            </a:r>
          </a:p>
          <a:p>
            <a:pPr marL="471170" lvl="1" indent="-137795"/>
            <a:r>
              <a:rPr lang="en-GB"/>
              <a:t>Do the changes include schema changes? If so, what tables are impacted?</a:t>
            </a:r>
            <a:endParaRPr lang="en-GB" b="0" i="0">
              <a:solidFill>
                <a:srgbClr val="323130"/>
              </a:solidFill>
              <a:effectLst/>
              <a:highlight>
                <a:srgbClr val="FFFFFF"/>
              </a:highlight>
              <a:latin typeface="Segoe UI" panose="020B0502040204020203" pitchFamily="34" charset="0"/>
            </a:endParaRPr>
          </a:p>
          <a:p>
            <a:endParaRPr lang="en-GB" b="0" i="0">
              <a:solidFill>
                <a:srgbClr val="323130"/>
              </a:solidFill>
              <a:effectLst/>
              <a:highlight>
                <a:srgbClr val="FFFFFF"/>
              </a:highlight>
              <a:latin typeface="Segoe UI" panose="020B0502040204020203" pitchFamily="34" charset="0"/>
            </a:endParaRPr>
          </a:p>
          <a:p>
            <a:r>
              <a:rPr lang="en-GB" b="1" i="0">
                <a:solidFill>
                  <a:srgbClr val="323130"/>
                </a:solidFill>
                <a:effectLst/>
                <a:highlight>
                  <a:srgbClr val="FFFFFF"/>
                </a:highlight>
                <a:latin typeface="Segoe UI" panose="020B0502040204020203" pitchFamily="34" charset="0"/>
              </a:rPr>
              <a:t>Considerations for Power Platform: </a:t>
            </a:r>
            <a:r>
              <a:rPr lang="en-GB" b="1">
                <a:latin typeface="Calibri"/>
                <a:cs typeface="Calibri"/>
              </a:rPr>
              <a:t>and/or RPA.</a:t>
            </a:r>
          </a:p>
          <a:p>
            <a:pPr marL="171450" indent="-171450">
              <a:buFont typeface="Arial" panose="020B0604020202020204" pitchFamily="34" charset="0"/>
              <a:buChar char="•"/>
            </a:pPr>
            <a:r>
              <a:rPr lang="en-GB" sz="1200">
                <a:latin typeface="Calibri"/>
                <a:cs typeface="Calibri"/>
              </a:rPr>
              <a:t>What connectors are being used? And will there be any external integrations?</a:t>
            </a:r>
            <a:endParaRPr lang="en-GB" sz="1200"/>
          </a:p>
          <a:p>
            <a:pPr marL="171450" indent="-171450">
              <a:buFont typeface="Arial" panose="020B0604020202020204" pitchFamily="34" charset="0"/>
              <a:buChar char="•"/>
            </a:pPr>
            <a:r>
              <a:rPr lang="en-GB" sz="1200">
                <a:latin typeface="Calibri"/>
                <a:cs typeface="Calibri"/>
              </a:rPr>
              <a:t>Which Environment is being used?</a:t>
            </a:r>
          </a:p>
          <a:p>
            <a:pPr marL="171450" indent="-171450">
              <a:buFont typeface="Arial" panose="020B0604020202020204" pitchFamily="34" charset="0"/>
              <a:buChar char="•"/>
            </a:pPr>
            <a:r>
              <a:rPr lang="en-GB" sz="1200">
                <a:latin typeface="Calibri"/>
                <a:cs typeface="Calibri"/>
              </a:rPr>
              <a:t>Are Portals (public access) being used?</a:t>
            </a:r>
          </a:p>
          <a:p>
            <a:pPr marL="171450" indent="-171450">
              <a:buFont typeface="Arial" panose="020B0604020202020204" pitchFamily="34" charset="0"/>
              <a:buChar char="•"/>
            </a:pPr>
            <a:r>
              <a:rPr lang="en-GB" sz="1200">
                <a:latin typeface="Calibri"/>
                <a:cs typeface="Calibri"/>
              </a:rPr>
              <a:t>Is code being used in the flow / app?</a:t>
            </a:r>
          </a:p>
          <a:p>
            <a:pPr marL="171450" indent="-171450">
              <a:buFont typeface="Arial" panose="020B0604020202020204" pitchFamily="34" charset="0"/>
              <a:buChar char="•"/>
            </a:pPr>
            <a:r>
              <a:rPr lang="en-GB" sz="1200">
                <a:latin typeface="Calibri"/>
                <a:cs typeface="Calibri"/>
              </a:rPr>
              <a:t>Who will be the end consumers of the flow / app?</a:t>
            </a:r>
          </a:p>
          <a:p>
            <a:pPr marL="171450" indent="-171450">
              <a:buFont typeface="Arial" panose="020B0604020202020204" pitchFamily="34" charset="0"/>
              <a:buChar char="•"/>
            </a:pPr>
            <a:r>
              <a:rPr lang="en-GB" sz="1200">
                <a:latin typeface="Calibri"/>
                <a:cs typeface="Calibri"/>
              </a:rPr>
              <a:t>How will access control work with this flow/app and it's data?</a:t>
            </a:r>
          </a:p>
          <a:p>
            <a:pPr marL="171450" indent="-171450">
              <a:buFont typeface="Arial" panose="020B0604020202020204" pitchFamily="34" charset="0"/>
              <a:buChar char="•"/>
            </a:pPr>
            <a:r>
              <a:rPr lang="en-GB" sz="1200">
                <a:latin typeface="Calibri"/>
                <a:cs typeface="Calibri"/>
              </a:rPr>
              <a:t>If RPA is being used where will the agent be deployed? What controls surround the agent host? Is all software on the host under a patch management policy?</a:t>
            </a:r>
            <a:endParaRPr lang="en-GB" sz="1200">
              <a:cs typeface="Calibri"/>
            </a:endParaRPr>
          </a:p>
          <a:p>
            <a:pPr marL="171450" indent="-171450">
              <a:buFont typeface="Arial" panose="020B0604020202020204" pitchFamily="34" charset="0"/>
              <a:buChar char="•"/>
            </a:pPr>
            <a:r>
              <a:rPr lang="en-GB" sz="1200">
                <a:latin typeface="Calibri"/>
                <a:cs typeface="Calibri"/>
              </a:rPr>
              <a:t>Is Sensitive data being handled? If so how is this being processed / stored?</a:t>
            </a:r>
            <a:endParaRPr lang="en-GB" sz="1200">
              <a:cs typeface="Calibri"/>
            </a:endParaRPr>
          </a:p>
          <a:p>
            <a:pPr marL="171450" indent="-171450">
              <a:buFont typeface="Arial" panose="020B0604020202020204" pitchFamily="34" charset="0"/>
              <a:buChar char="•"/>
            </a:pPr>
            <a:r>
              <a:rPr lang="en-GB" sz="1200">
                <a:latin typeface="Calibri"/>
                <a:cs typeface="Calibri"/>
              </a:rPr>
              <a:t>How frequently will the Application or Flow change? What sort of change can be expected over time?</a:t>
            </a:r>
            <a:endParaRPr lang="en-GB" sz="1200">
              <a:cs typeface="Calibri"/>
            </a:endParaRPr>
          </a:p>
          <a:p>
            <a:pPr marL="171450" indent="-171450">
              <a:buFont typeface="Arial" panose="020B0604020202020204" pitchFamily="34" charset="0"/>
              <a:buChar char="•"/>
            </a:pPr>
            <a:r>
              <a:rPr lang="en-GB" sz="1200">
                <a:latin typeface="Calibri"/>
                <a:cs typeface="Calibri"/>
              </a:rPr>
              <a:t>Is there any applicable regulatory compliance surrounding the flow / app or data?</a:t>
            </a:r>
            <a:endParaRPr lang="en-GB" sz="1200">
              <a:cs typeface="Calibri"/>
            </a:endParaRPr>
          </a:p>
          <a:p>
            <a:pPr marL="171450" indent="-171450">
              <a:buFont typeface="Arial" panose="020B0604020202020204" pitchFamily="34" charset="0"/>
              <a:buChar char="•"/>
            </a:pPr>
            <a:r>
              <a:rPr lang="en-GB" sz="1200">
                <a:latin typeface="Calibri"/>
                <a:cs typeface="Calibri"/>
              </a:rPr>
              <a:t>What is the exact scope of the requested approval? (</a:t>
            </a:r>
            <a:r>
              <a:rPr lang="en-GB" sz="1200" err="1">
                <a:latin typeface="Calibri"/>
                <a:cs typeface="Calibri"/>
              </a:rPr>
              <a:t>e.g</a:t>
            </a:r>
            <a:r>
              <a:rPr lang="en-GB" sz="1200">
                <a:latin typeface="Calibri"/>
                <a:cs typeface="Calibri"/>
              </a:rPr>
              <a:t> scope of "processing actions" and "data types")</a:t>
            </a:r>
            <a:endParaRPr lang="en-GB" b="0" i="0">
              <a:solidFill>
                <a:srgbClr val="323130"/>
              </a:solidFill>
              <a:effectLst/>
              <a:highlight>
                <a:srgbClr val="FFFFFF"/>
              </a:highlight>
              <a:latin typeface="Segoe UI" panose="020B0502040204020203" pitchFamily="34" charset="0"/>
            </a:endParaRPr>
          </a:p>
          <a:p>
            <a:endParaRPr lang="en-GB"/>
          </a:p>
        </p:txBody>
      </p:sp>
      <p:sp>
        <p:nvSpPr>
          <p:cNvPr id="4" name="Slide Number Placeholder 3"/>
          <p:cNvSpPr>
            <a:spLocks noGrp="1"/>
          </p:cNvSpPr>
          <p:nvPr>
            <p:ph type="sldNum" sz="quarter" idx="5"/>
          </p:nvPr>
        </p:nvSpPr>
        <p:spPr/>
        <p:txBody>
          <a:bodyPr/>
          <a:lstStyle/>
          <a:p>
            <a:fld id="{AD271A67-12EF-4A47-A7BF-BA67CD2586C4}" type="slidenum">
              <a:rPr lang="en-GB" smtClean="0"/>
              <a:t>9</a:t>
            </a:fld>
            <a:endParaRPr lang="en-GB"/>
          </a:p>
        </p:txBody>
      </p:sp>
    </p:spTree>
    <p:extLst>
      <p:ext uri="{BB962C8B-B14F-4D97-AF65-F5344CB8AC3E}">
        <p14:creationId xmlns:p14="http://schemas.microsoft.com/office/powerpoint/2010/main" val="4136188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73E8C-2CAE-F591-D7AE-3E79F94249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71FCB3C-E80E-36B2-9E29-DFC246B98F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42EFD7B-C1D4-A0A5-FB90-C391BDD518EA}"/>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5" name="Footer Placeholder 4">
            <a:extLst>
              <a:ext uri="{FF2B5EF4-FFF2-40B4-BE49-F238E27FC236}">
                <a16:creationId xmlns:a16="http://schemas.microsoft.com/office/drawing/2014/main" id="{E691078E-5E70-7624-FC14-15D7270B2D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898303-963B-7895-92C8-D36AB6839500}"/>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1829879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BB50-EF69-2CA6-ABAB-F6F9B36254F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604CF0B-F5F7-0D25-9114-4726D805FD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97E7FB-6A49-87CE-1539-8ABBAB972399}"/>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5" name="Footer Placeholder 4">
            <a:extLst>
              <a:ext uri="{FF2B5EF4-FFF2-40B4-BE49-F238E27FC236}">
                <a16:creationId xmlns:a16="http://schemas.microsoft.com/office/drawing/2014/main" id="{C8B5469F-E2BE-FC76-41A6-B0D0F0CF7F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9D0BC3E-2079-A017-3CB0-54AA5A8EF49D}"/>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2277141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E0FA-B4E2-6A08-5E40-D5C8BA66B3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1355C0F-CF3F-7508-2D70-EB7BBE4CE1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111340-7D8A-BDC8-4B5B-7807E46FDB3C}"/>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5" name="Footer Placeholder 4">
            <a:extLst>
              <a:ext uri="{FF2B5EF4-FFF2-40B4-BE49-F238E27FC236}">
                <a16:creationId xmlns:a16="http://schemas.microsoft.com/office/drawing/2014/main" id="{E110AF16-238F-4F3A-730B-D5D67BEFDE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88F8EC-8923-3A2F-C7B1-0115AB2AF93A}"/>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1019923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97443-EE02-F255-CF32-5C5707F493F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9785F53-4527-FA58-1AD2-3D1A8CF5E3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F6F2FB9-DB82-8B14-8D0C-F9BD0D4636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D6D03F7-D6B0-4EA0-9534-7AB111123D12}"/>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6" name="Footer Placeholder 5">
            <a:extLst>
              <a:ext uri="{FF2B5EF4-FFF2-40B4-BE49-F238E27FC236}">
                <a16:creationId xmlns:a16="http://schemas.microsoft.com/office/drawing/2014/main" id="{66EA0132-F941-AC4E-9CC8-3E9BCFEAED2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7EB48B9-749C-5AE1-8CFC-1B5E646BA47F}"/>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3046825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FA662-9AC3-409F-9876-DF162D61691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5D10D33-62AF-BA57-5911-B03A494297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8D9377-6E3E-1C54-119D-2081AED3BA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CB0DE14-024B-52A0-9C69-233E11EAFF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565BE2-63D1-C93F-9527-C970C376BA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7EAFBE6-1D0D-140B-C7E2-15A7552AC1D3}"/>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8" name="Footer Placeholder 7">
            <a:extLst>
              <a:ext uri="{FF2B5EF4-FFF2-40B4-BE49-F238E27FC236}">
                <a16:creationId xmlns:a16="http://schemas.microsoft.com/office/drawing/2014/main" id="{6678DDDB-86D2-4368-AD9B-A4BEC3D486A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B420973-6CDD-3047-669A-4ADA83BA9965}"/>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1952107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A7553-CF8F-2C86-0D33-349A7E36124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D9A9809-F73A-23F5-7C81-F53EE81F9940}"/>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4" name="Footer Placeholder 3">
            <a:extLst>
              <a:ext uri="{FF2B5EF4-FFF2-40B4-BE49-F238E27FC236}">
                <a16:creationId xmlns:a16="http://schemas.microsoft.com/office/drawing/2014/main" id="{502FD141-0BF5-4044-61AC-22FCECB16E5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705C95B-8624-FC86-8481-6A6EA40544ED}"/>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3299078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400992-9C64-CEDA-D83C-E652284C1060}"/>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3" name="Footer Placeholder 2">
            <a:extLst>
              <a:ext uri="{FF2B5EF4-FFF2-40B4-BE49-F238E27FC236}">
                <a16:creationId xmlns:a16="http://schemas.microsoft.com/office/drawing/2014/main" id="{DDF01705-D3EE-E8C1-A331-D366F482F0B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654A9C3-E65A-4EA2-D98A-385A505C3AE3}"/>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3237379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B0BE-0FEA-1F8C-4A77-04451B77E4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26CD874-A8CB-29E2-5E1C-D4CD08F8AA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0081130-0528-FE65-7072-C4C6D37111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6435B8-1256-3FDB-648D-0C00E0FE2714}"/>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6" name="Footer Placeholder 5">
            <a:extLst>
              <a:ext uri="{FF2B5EF4-FFF2-40B4-BE49-F238E27FC236}">
                <a16:creationId xmlns:a16="http://schemas.microsoft.com/office/drawing/2014/main" id="{C7CC08C2-B41C-5483-09E6-5AF49BE02C0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4D9CA30-B8AF-B3B9-FB89-B9C616178F93}"/>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839695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87FD-80BF-A554-32E3-E015C9F1D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19BE9F4-7777-03A6-6B82-3E6249895E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10A813F-85E7-8D86-B907-03E266966E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8BE29B-D55E-BBD2-7892-EF0B7465BB31}"/>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6" name="Footer Placeholder 5">
            <a:extLst>
              <a:ext uri="{FF2B5EF4-FFF2-40B4-BE49-F238E27FC236}">
                <a16:creationId xmlns:a16="http://schemas.microsoft.com/office/drawing/2014/main" id="{C330953A-464E-28A8-731E-A27ED7F1031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35C0E97-08E2-D273-A9A9-2BF8FF8FC1DD}"/>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884032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26BD-529A-A1DE-6BAD-4744DF94B0C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748DC63-5E59-60CC-C4DC-97E8B7954C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DB459D-FA3B-E4F0-7C8F-641C88BA4C6F}"/>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5" name="Footer Placeholder 4">
            <a:extLst>
              <a:ext uri="{FF2B5EF4-FFF2-40B4-BE49-F238E27FC236}">
                <a16:creationId xmlns:a16="http://schemas.microsoft.com/office/drawing/2014/main" id="{77AA9D47-1CE9-5BB6-CF88-C5469EEE7D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66B935-1CFD-0FC0-1683-3AF3FFDD4635}"/>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2006503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2AA19D-B59D-AF7C-D695-E03677F476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D1C385F-2E1F-46D0-5694-86C34591F0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B027A38-57D7-C62E-6329-82368D977826}"/>
              </a:ext>
            </a:extLst>
          </p:cNvPr>
          <p:cNvSpPr>
            <a:spLocks noGrp="1"/>
          </p:cNvSpPr>
          <p:nvPr>
            <p:ph type="dt" sz="half" idx="10"/>
          </p:nvPr>
        </p:nvSpPr>
        <p:spPr/>
        <p:txBody>
          <a:bodyPr/>
          <a:lstStyle/>
          <a:p>
            <a:fld id="{64D79520-9E96-43F6-9124-5770689E106B}" type="datetimeFigureOut">
              <a:rPr lang="en-GB" smtClean="0"/>
              <a:t>21/10/2025</a:t>
            </a:fld>
            <a:endParaRPr lang="en-GB"/>
          </a:p>
        </p:txBody>
      </p:sp>
      <p:sp>
        <p:nvSpPr>
          <p:cNvPr id="5" name="Footer Placeholder 4">
            <a:extLst>
              <a:ext uri="{FF2B5EF4-FFF2-40B4-BE49-F238E27FC236}">
                <a16:creationId xmlns:a16="http://schemas.microsoft.com/office/drawing/2014/main" id="{242CE599-72A2-7417-2FCB-315E93E79B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86A675-26B3-BB59-F38D-879EF8602939}"/>
              </a:ext>
            </a:extLst>
          </p:cNvPr>
          <p:cNvSpPr>
            <a:spLocks noGrp="1"/>
          </p:cNvSpPr>
          <p:nvPr>
            <p:ph type="sldNum" sz="quarter" idx="12"/>
          </p:nvPr>
        </p:nvSpPr>
        <p:spPr/>
        <p:txBody>
          <a:bodyPr/>
          <a:lstStyle/>
          <a:p>
            <a:fld id="{8E1E2C89-0625-4EE4-A285-AFE279CF1C7E}" type="slidenum">
              <a:rPr lang="en-GB" smtClean="0"/>
              <a:t>‹#›</a:t>
            </a:fld>
            <a:endParaRPr lang="en-GB"/>
          </a:p>
        </p:txBody>
      </p:sp>
    </p:spTree>
    <p:extLst>
      <p:ext uri="{BB962C8B-B14F-4D97-AF65-F5344CB8AC3E}">
        <p14:creationId xmlns:p14="http://schemas.microsoft.com/office/powerpoint/2010/main" val="3064999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93CBFB-EE76-891E-33E8-356362D4A9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7FBD975-2478-A5B7-01C7-915A6155CD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09C2616-4D68-CF64-F5C8-4D9CB36E81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D79520-9E96-43F6-9124-5770689E106B}" type="datetimeFigureOut">
              <a:rPr lang="en-GB" smtClean="0"/>
              <a:t>21/10/2025</a:t>
            </a:fld>
            <a:endParaRPr lang="en-GB"/>
          </a:p>
        </p:txBody>
      </p:sp>
      <p:sp>
        <p:nvSpPr>
          <p:cNvPr id="5" name="Footer Placeholder 4">
            <a:extLst>
              <a:ext uri="{FF2B5EF4-FFF2-40B4-BE49-F238E27FC236}">
                <a16:creationId xmlns:a16="http://schemas.microsoft.com/office/drawing/2014/main" id="{C3BB3A58-84A5-68CB-0520-E6594669FD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2FC00B8-D2BB-F6BF-8AEA-68D52CEB1B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1E2C89-0625-4EE4-A285-AFE279CF1C7E}" type="slidenum">
              <a:rPr lang="en-GB" smtClean="0"/>
              <a:t>‹#›</a:t>
            </a:fld>
            <a:endParaRPr lang="en-GB"/>
          </a:p>
        </p:txBody>
      </p:sp>
    </p:spTree>
    <p:extLst>
      <p:ext uri="{BB962C8B-B14F-4D97-AF65-F5344CB8AC3E}">
        <p14:creationId xmlns:p14="http://schemas.microsoft.com/office/powerpoint/2010/main" val="3000774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nprod.service-now.com/sp?id=sc_cat_item_guide&amp;sys_id=b539102b2b96f1405d64e50317da1578" TargetMode="External"/><Relationship Id="rId2" Type="http://schemas.openxmlformats.org/officeDocument/2006/relationships/hyperlink" Target="https://forms.office.com/e/LcNgZ25w5p?origin=lprLink" TargetMode="External"/><Relationship Id="rId1" Type="http://schemas.openxmlformats.org/officeDocument/2006/relationships/slideLayout" Target="../slideLayouts/slideLayout2.xml"/><Relationship Id="rId4" Type="http://schemas.openxmlformats.org/officeDocument/2006/relationships/hyperlink" Target="https://centricaplc.sharepoint.com/:p:/s/CETARP/EexxZCJm0phLl_OQLxMelC0B0T1gigt6vGRsQldnEmM7yg?e=QHozhM"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centricaplc.sharepoint.com/:w:/r/sites/DTSGlobalStrategyandArchitectureGovernance/Shared%20Documents/Strategy/DTS%20Strategy/Data%20Strategy/Centrica%20Data%20Technology%20Strategy%20Q1%202024%20v0.5%20(Final%20Draft).docx?d=w3f54665f79264f57aee78414f91d17a7&amp;csf=1&amp;web=1&amp;e=dbh9m9" TargetMode="External"/><Relationship Id="rId2" Type="http://schemas.openxmlformats.org/officeDocument/2006/relationships/hyperlink" Target="https://centricaplc.sharepoint.com/:b:/r/sites/dts-pdl/Policy%20documents/Group%20Cloud%20Principles.pdf?csf=1&amp;web=1&amp;e=hOYNZI" TargetMode="External"/><Relationship Id="rId1" Type="http://schemas.openxmlformats.org/officeDocument/2006/relationships/slideLayout" Target="../slideLayouts/slideLayout2.xml"/><Relationship Id="rId5" Type="http://schemas.openxmlformats.org/officeDocument/2006/relationships/hyperlink" Target="https://centricaplc.sharepoint.com/sites/dts-pdl/Policy%20documents/Forms/AllItems.aspx?id=%2Fsites%2Fdts%2Dpdl%2FPolicy%20documents%2FStandard%20on%20Business%20Criticality%2Epdf&amp;parent=%2Fsites%2Fdts%2Dpdl%2FPolicy%20documents" TargetMode="External"/><Relationship Id="rId4" Type="http://schemas.openxmlformats.org/officeDocument/2006/relationships/hyperlink" Target="https://centricaplc.sharepoint.com/sites/SAStrategy/Shared%20Documents/Forms/AllItems.aspx?id=%2Fsites%2FSAStrategy%2FShared%20Documents%2FLatest%20Strategy%20Documents%2FAI%20Strategy%2FFinal%20AI%20Tech%20Strategy%20v1%2E0%20March%202024%2Epdf&amp;parent=%2Fsites%2FSAStrategy%2FShared%20Documents%2FLatest%20Strategy%20Documents%2FAI%20Strategy"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6.xml"/><Relationship Id="rId4" Type="http://schemas.openxmlformats.org/officeDocument/2006/relationships/hyperlink" Target="https://github.com/vinothhariharasubramanian/infra-ccoe/tree/main/AzureSubscriptionCleanUps/ResourceGraphQueries"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6027-0DAC-D78D-B070-4C2FF9B76506}"/>
              </a:ext>
            </a:extLst>
          </p:cNvPr>
          <p:cNvSpPr>
            <a:spLocks noGrp="1"/>
          </p:cNvSpPr>
          <p:nvPr>
            <p:ph type="title"/>
          </p:nvPr>
        </p:nvSpPr>
        <p:spPr>
          <a:xfrm>
            <a:off x="838200" y="365125"/>
            <a:ext cx="10515600" cy="800627"/>
          </a:xfrm>
        </p:spPr>
        <p:txBody>
          <a:bodyPr/>
          <a:lstStyle/>
          <a:p>
            <a:r>
              <a:rPr lang="en-GB">
                <a:solidFill>
                  <a:schemeClr val="bg1"/>
                </a:solidFill>
              </a:rPr>
              <a:t>Template Guidance</a:t>
            </a:r>
          </a:p>
        </p:txBody>
      </p:sp>
      <p:sp>
        <p:nvSpPr>
          <p:cNvPr id="3" name="Content Placeholder 2">
            <a:extLst>
              <a:ext uri="{FF2B5EF4-FFF2-40B4-BE49-F238E27FC236}">
                <a16:creationId xmlns:a16="http://schemas.microsoft.com/office/drawing/2014/main" id="{EC3E565F-9C31-B5E0-2FBC-A855FB84ACD1}"/>
              </a:ext>
            </a:extLst>
          </p:cNvPr>
          <p:cNvSpPr>
            <a:spLocks noGrp="1"/>
          </p:cNvSpPr>
          <p:nvPr>
            <p:ph idx="1"/>
          </p:nvPr>
        </p:nvSpPr>
        <p:spPr>
          <a:xfrm>
            <a:off x="838200" y="1165752"/>
            <a:ext cx="10515600" cy="5421395"/>
          </a:xfrm>
        </p:spPr>
        <p:txBody>
          <a:bodyPr>
            <a:normAutofit fontScale="77500" lnSpcReduction="20000"/>
          </a:bodyPr>
          <a:lstStyle/>
          <a:p>
            <a:pPr marL="0" indent="0">
              <a:buNone/>
            </a:pPr>
            <a:r>
              <a:rPr lang="en-GB" sz="1800" b="1" u="sng">
                <a:solidFill>
                  <a:schemeClr val="bg1"/>
                </a:solidFill>
              </a:rPr>
              <a:t>Purpose</a:t>
            </a:r>
          </a:p>
          <a:p>
            <a:r>
              <a:rPr lang="en-GB" sz="1800">
                <a:solidFill>
                  <a:schemeClr val="bg1"/>
                </a:solidFill>
              </a:rPr>
              <a:t>CE TARP is there to help and should not be a lengthy process to prepare for, particularly at early stages of a project or in innovation projects where there are regular design changes.</a:t>
            </a:r>
          </a:p>
          <a:p>
            <a:r>
              <a:rPr lang="en-GB" sz="1800">
                <a:solidFill>
                  <a:schemeClr val="bg1"/>
                </a:solidFill>
              </a:rPr>
              <a:t>This template is for early submission to CE TARP before the architecture is all finalised and can be formally documented in an HLTD.</a:t>
            </a:r>
          </a:p>
          <a:p>
            <a:pPr marL="0" indent="0">
              <a:buNone/>
            </a:pPr>
            <a:r>
              <a:rPr lang="en-GB" sz="1800" b="1" u="sng">
                <a:solidFill>
                  <a:schemeClr val="bg1"/>
                </a:solidFill>
              </a:rPr>
              <a:t>Guidance</a:t>
            </a:r>
          </a:p>
          <a:p>
            <a:r>
              <a:rPr lang="en-GB" sz="1800">
                <a:solidFill>
                  <a:schemeClr val="bg1"/>
                </a:solidFill>
              </a:rPr>
              <a:t>Please update all </a:t>
            </a:r>
            <a:r>
              <a:rPr lang="en-GB" sz="1800">
                <a:solidFill>
                  <a:schemeClr val="accent6"/>
                </a:solidFill>
              </a:rPr>
              <a:t>green text</a:t>
            </a:r>
            <a:r>
              <a:rPr lang="en-GB" sz="1800">
                <a:solidFill>
                  <a:srgbClr val="FF0000"/>
                </a:solidFill>
              </a:rPr>
              <a:t> </a:t>
            </a:r>
            <a:r>
              <a:rPr lang="en-GB" sz="1800">
                <a:solidFill>
                  <a:schemeClr val="bg1"/>
                </a:solidFill>
              </a:rPr>
              <a:t>in the template as this is required content.  Once updated change colour as needed.</a:t>
            </a:r>
          </a:p>
          <a:p>
            <a:r>
              <a:rPr lang="en-GB" sz="1800">
                <a:solidFill>
                  <a:schemeClr val="bg1"/>
                </a:solidFill>
              </a:rPr>
              <a:t>If available, then please update any of the </a:t>
            </a:r>
            <a:r>
              <a:rPr lang="en-GB" sz="1800">
                <a:solidFill>
                  <a:schemeClr val="accent2"/>
                </a:solidFill>
              </a:rPr>
              <a:t>amber text </a:t>
            </a:r>
            <a:r>
              <a:rPr lang="en-GB" sz="1800">
                <a:solidFill>
                  <a:schemeClr val="bg1"/>
                </a:solidFill>
              </a:rPr>
              <a:t>as this is additional useful content.  If you don’t have this then it can be removed. Once updated change colour as needed.</a:t>
            </a:r>
          </a:p>
          <a:p>
            <a:r>
              <a:rPr lang="en-GB" sz="1800">
                <a:solidFill>
                  <a:schemeClr val="bg1"/>
                </a:solidFill>
              </a:rPr>
              <a:t>Any </a:t>
            </a:r>
            <a:r>
              <a:rPr lang="en-GB" sz="1800">
                <a:solidFill>
                  <a:srgbClr val="FF0000"/>
                </a:solidFill>
              </a:rPr>
              <a:t>red text </a:t>
            </a:r>
            <a:r>
              <a:rPr lang="en-GB" sz="1800">
                <a:solidFill>
                  <a:schemeClr val="bg1"/>
                </a:solidFill>
              </a:rPr>
              <a:t>is there for guidance only and can be removed.</a:t>
            </a:r>
          </a:p>
          <a:p>
            <a:r>
              <a:rPr lang="en-GB" sz="1800">
                <a:solidFill>
                  <a:schemeClr val="bg1"/>
                </a:solidFill>
              </a:rPr>
              <a:t>It provides the minimum set of information required to enable early-stage project approvals and high-level design decision input.</a:t>
            </a:r>
          </a:p>
          <a:p>
            <a:r>
              <a:rPr lang="en-GB" sz="1800">
                <a:solidFill>
                  <a:schemeClr val="bg1"/>
                </a:solidFill>
              </a:rPr>
              <a:t>It is intended for:</a:t>
            </a:r>
          </a:p>
          <a:p>
            <a:pPr lvl="1"/>
            <a:r>
              <a:rPr lang="en-GB" sz="1600">
                <a:solidFill>
                  <a:schemeClr val="bg1"/>
                </a:solidFill>
              </a:rPr>
              <a:t>Assistance with Technical / Architectural Decisions – providing options and getting input to help make the right architectural decisions early on.</a:t>
            </a:r>
          </a:p>
          <a:p>
            <a:pPr lvl="1"/>
            <a:r>
              <a:rPr lang="en-GB" sz="1600">
                <a:solidFill>
                  <a:schemeClr val="bg1"/>
                </a:solidFill>
              </a:rPr>
              <a:t>Innovation and DevOps teams who are rapidly iterating solution designs to test and learn / prove out potential approaches etc.</a:t>
            </a:r>
          </a:p>
          <a:p>
            <a:pPr lvl="1"/>
            <a:r>
              <a:rPr lang="en-GB" sz="1600">
                <a:solidFill>
                  <a:schemeClr val="bg1"/>
                </a:solidFill>
              </a:rPr>
              <a:t>Projects at an early stage, not yet ready for HLTD review and will then feed into the HLTD designs.</a:t>
            </a:r>
          </a:p>
          <a:p>
            <a:r>
              <a:rPr lang="en-GB" sz="1800">
                <a:solidFill>
                  <a:schemeClr val="bg1"/>
                </a:solidFill>
              </a:rPr>
              <a:t>It does not remove the need for an HLTD for any solution but should be seen as a way to capture information to go into an HLTD.</a:t>
            </a:r>
          </a:p>
          <a:p>
            <a:r>
              <a:rPr lang="en-GB" sz="1800" b="1">
                <a:solidFill>
                  <a:schemeClr val="bg1"/>
                </a:solidFill>
              </a:rPr>
              <a:t>Please submit your request for CE TARP using this form:  </a:t>
            </a:r>
            <a:r>
              <a:rPr lang="en-GB" sz="1800" b="1">
                <a:solidFill>
                  <a:schemeClr val="accent6"/>
                </a:solidFill>
                <a:hlinkClick r:id="rId2">
                  <a:extLst>
                    <a:ext uri="{A12FA001-AC4F-418D-AE19-62706E023703}">
                      <ahyp:hlinkClr xmlns:ahyp="http://schemas.microsoft.com/office/drawing/2018/hyperlinkcolor" val="tx"/>
                    </a:ext>
                  </a:extLst>
                </a:hlinkClick>
              </a:rPr>
              <a:t>CE TARP – Request form</a:t>
            </a:r>
            <a:endParaRPr lang="en-GB" sz="1800" b="1">
              <a:solidFill>
                <a:schemeClr val="accent6"/>
              </a:solidFill>
            </a:endParaRPr>
          </a:p>
          <a:p>
            <a:endParaRPr lang="en-GB" sz="1800" b="1">
              <a:solidFill>
                <a:schemeClr val="accent6"/>
              </a:solidFill>
            </a:endParaRPr>
          </a:p>
          <a:p>
            <a:r>
              <a:rPr lang="en-GB" sz="1800" b="1">
                <a:solidFill>
                  <a:schemeClr val="bg1"/>
                </a:solidFill>
              </a:rPr>
              <a:t>If you require to engage Security consultancy and/or Service Design, use this form: </a:t>
            </a:r>
            <a:r>
              <a:rPr lang="en-GB" sz="1900" b="1">
                <a:solidFill>
                  <a:schemeClr val="accent6"/>
                </a:solidFill>
                <a:hlinkClick r:id="rId3">
                  <a:extLst>
                    <a:ext uri="{A12FA001-AC4F-418D-AE19-62706E023703}">
                      <ahyp:hlinkClr xmlns:ahyp="http://schemas.microsoft.com/office/drawing/2018/hyperlinkcolor" val="tx"/>
                    </a:ext>
                  </a:extLst>
                </a:hlinkClick>
              </a:rPr>
              <a:t>Security and/or Service design Engagement - request form</a:t>
            </a:r>
            <a:endParaRPr lang="en-GB" sz="1900" b="1">
              <a:solidFill>
                <a:schemeClr val="accent6"/>
              </a:solidFill>
            </a:endParaRPr>
          </a:p>
          <a:p>
            <a:endParaRPr lang="en-GB" sz="1900" b="1">
              <a:solidFill>
                <a:schemeClr val="accent6"/>
              </a:solidFill>
            </a:endParaRPr>
          </a:p>
          <a:p>
            <a:r>
              <a:rPr lang="en-GB" sz="1800" b="1">
                <a:solidFill>
                  <a:schemeClr val="bg1"/>
                </a:solidFill>
              </a:rPr>
              <a:t>This template is stored here: </a:t>
            </a:r>
            <a:r>
              <a:rPr lang="en-GB" sz="1800" b="1">
                <a:solidFill>
                  <a:schemeClr val="accent6"/>
                </a:solidFill>
                <a:hlinkClick r:id="rId4">
                  <a:extLst>
                    <a:ext uri="{A12FA001-AC4F-418D-AE19-62706E023703}">
                      <ahyp:hlinkClr xmlns:ahyp="http://schemas.microsoft.com/office/drawing/2018/hyperlinkcolor" val="tx"/>
                    </a:ext>
                  </a:extLst>
                </a:hlinkClick>
              </a:rPr>
              <a:t>CE TARP – request template</a:t>
            </a:r>
            <a:endParaRPr lang="en-GB" sz="1800" b="1">
              <a:solidFill>
                <a:schemeClr val="accent6"/>
              </a:solidFill>
            </a:endParaRPr>
          </a:p>
        </p:txBody>
      </p:sp>
    </p:spTree>
    <p:extLst>
      <p:ext uri="{BB962C8B-B14F-4D97-AF65-F5344CB8AC3E}">
        <p14:creationId xmlns:p14="http://schemas.microsoft.com/office/powerpoint/2010/main" val="3072979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9FD51A53-BEA5-247F-D46F-ADB37B1309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113" b="2"/>
          <a:stretch/>
        </p:blipFill>
        <p:spPr bwMode="auto">
          <a:xfrm>
            <a:off x="-6100" y="-22"/>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1285BED-A765-1E9F-5821-878CB481BEFE}"/>
              </a:ext>
            </a:extLst>
          </p:cNvPr>
          <p:cNvSpPr>
            <a:spLocks noGrp="1"/>
          </p:cNvSpPr>
          <p:nvPr>
            <p:ph type="ctrTitle"/>
          </p:nvPr>
        </p:nvSpPr>
        <p:spPr>
          <a:xfrm>
            <a:off x="115280" y="5628772"/>
            <a:ext cx="3360152" cy="873860"/>
          </a:xfrm>
        </p:spPr>
        <p:txBody>
          <a:bodyPr anchor="t">
            <a:normAutofit/>
          </a:bodyPr>
          <a:lstStyle/>
          <a:p>
            <a:pPr algn="l"/>
            <a:r>
              <a:rPr lang="en-GB" sz="5200">
                <a:solidFill>
                  <a:srgbClr val="FFFFFF"/>
                </a:solidFill>
              </a:rPr>
              <a:t>CE TARP</a:t>
            </a:r>
          </a:p>
        </p:txBody>
      </p:sp>
      <p:sp>
        <p:nvSpPr>
          <p:cNvPr id="5" name="Subtitle 4">
            <a:extLst>
              <a:ext uri="{FF2B5EF4-FFF2-40B4-BE49-F238E27FC236}">
                <a16:creationId xmlns:a16="http://schemas.microsoft.com/office/drawing/2014/main" id="{9254CCFB-2C14-5DAB-1CF5-B286D341FE6E}"/>
              </a:ext>
            </a:extLst>
          </p:cNvPr>
          <p:cNvSpPr>
            <a:spLocks noGrp="1"/>
          </p:cNvSpPr>
          <p:nvPr>
            <p:ph type="subTitle" idx="1"/>
          </p:nvPr>
        </p:nvSpPr>
        <p:spPr>
          <a:xfrm>
            <a:off x="156224" y="6324730"/>
            <a:ext cx="3282814" cy="458207"/>
          </a:xfrm>
        </p:spPr>
        <p:txBody>
          <a:bodyPr anchor="b">
            <a:normAutofit/>
          </a:bodyPr>
          <a:lstStyle/>
          <a:p>
            <a:pPr algn="l"/>
            <a:r>
              <a:rPr lang="en-GB">
                <a:solidFill>
                  <a:srgbClr val="FFFFFF"/>
                </a:solidFill>
              </a:rPr>
              <a:t>Simplified Submission</a:t>
            </a:r>
          </a:p>
        </p:txBody>
      </p:sp>
      <p:sp>
        <p:nvSpPr>
          <p:cNvPr id="1035" name="Rectangle 1034">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3">
            <a:extLst>
              <a:ext uri="{FF2B5EF4-FFF2-40B4-BE49-F238E27FC236}">
                <a16:creationId xmlns:a16="http://schemas.microsoft.com/office/drawing/2014/main" id="{0C872565-66E9-B1E8-8FBC-8043BE35FA96}"/>
              </a:ext>
            </a:extLst>
          </p:cNvPr>
          <p:cNvSpPr txBox="1">
            <a:spLocks/>
          </p:cNvSpPr>
          <p:nvPr/>
        </p:nvSpPr>
        <p:spPr>
          <a:xfrm>
            <a:off x="229183" y="1468479"/>
            <a:ext cx="8603667" cy="1871621"/>
          </a:xfrm>
          <a:prstGeom prst="rect">
            <a:avLst/>
          </a:prstGeom>
        </p:spPr>
        <p:txBody>
          <a:bodyPr vert="horz" lIns="91440" tIns="45720" rIns="91440" bIns="45720" rtlCol="0" anchor="t">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5200" dirty="0"/>
              <a:t>Azure EMT DevTest Subscription Cleanups</a:t>
            </a:r>
            <a:endParaRPr lang="en-GB" sz="2600" dirty="0"/>
          </a:p>
          <a:p>
            <a:pPr algn="l"/>
            <a:endParaRPr lang="en-GB" sz="5200" dirty="0">
              <a:solidFill>
                <a:srgbClr val="FFFFFF"/>
              </a:solidFill>
            </a:endParaRPr>
          </a:p>
          <a:p>
            <a:pPr algn="l"/>
            <a:r>
              <a:rPr lang="en-GB" sz="5200" dirty="0">
                <a:solidFill>
                  <a:srgbClr val="FFFFFF"/>
                </a:solidFill>
              </a:rPr>
              <a:t>21/10/2025</a:t>
            </a:r>
          </a:p>
          <a:p>
            <a:pPr algn="l"/>
            <a:r>
              <a:rPr lang="en-GB" sz="5200" dirty="0">
                <a:solidFill>
                  <a:srgbClr val="FFFFFF"/>
                </a:solidFill>
              </a:rPr>
              <a:t>Vinoth H</a:t>
            </a:r>
          </a:p>
        </p:txBody>
      </p:sp>
    </p:spTree>
    <p:extLst>
      <p:ext uri="{BB962C8B-B14F-4D97-AF65-F5344CB8AC3E}">
        <p14:creationId xmlns:p14="http://schemas.microsoft.com/office/powerpoint/2010/main" val="110961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5A6D4F-0D4D-028D-3318-7EB66CF2925B}"/>
              </a:ext>
            </a:extLst>
          </p:cNvPr>
          <p:cNvSpPr>
            <a:spLocks noGrp="1"/>
          </p:cNvSpPr>
          <p:nvPr>
            <p:ph type="title"/>
          </p:nvPr>
        </p:nvSpPr>
        <p:spPr>
          <a:xfrm>
            <a:off x="309349" y="348865"/>
            <a:ext cx="11106271" cy="877729"/>
          </a:xfrm>
        </p:spPr>
        <p:txBody>
          <a:bodyPr anchor="ctr">
            <a:normAutofit/>
          </a:bodyPr>
          <a:lstStyle/>
          <a:p>
            <a:r>
              <a:rPr lang="en-GB" sz="4000">
                <a:solidFill>
                  <a:srgbClr val="FFFFFF"/>
                </a:solidFill>
              </a:rPr>
              <a:t>Solution Overview / Business Requirements</a:t>
            </a:r>
          </a:p>
        </p:txBody>
      </p:sp>
      <p:sp>
        <p:nvSpPr>
          <p:cNvPr id="3" name="Content Placeholder 2">
            <a:extLst>
              <a:ext uri="{FF2B5EF4-FFF2-40B4-BE49-F238E27FC236}">
                <a16:creationId xmlns:a16="http://schemas.microsoft.com/office/drawing/2014/main" id="{1A4FE64D-66DF-D10C-78F4-C6CE0D9CFE5E}"/>
              </a:ext>
            </a:extLst>
          </p:cNvPr>
          <p:cNvSpPr>
            <a:spLocks/>
          </p:cNvSpPr>
          <p:nvPr/>
        </p:nvSpPr>
        <p:spPr>
          <a:xfrm>
            <a:off x="208049" y="1803161"/>
            <a:ext cx="6116551" cy="3911840"/>
          </a:xfrm>
          <a:prstGeom prst="rect">
            <a:avLst/>
          </a:prstGeom>
        </p:spPr>
        <p:txBody>
          <a:bodyPr>
            <a:normAutofit/>
          </a:bodyPr>
          <a:lstStyle/>
          <a:p>
            <a:pPr defTabSz="877824">
              <a:spcAft>
                <a:spcPts val="600"/>
              </a:spcAft>
            </a:pPr>
            <a:r>
              <a:rPr lang="en-GB" sz="1920" b="1" kern="1200" dirty="0">
                <a:solidFill>
                  <a:schemeClr val="tx1"/>
                </a:solidFill>
                <a:latin typeface="+mn-lt"/>
                <a:ea typeface="+mn-ea"/>
                <a:cs typeface="+mn-cs"/>
              </a:rPr>
              <a:t>CE TARP Ask</a:t>
            </a:r>
          </a:p>
          <a:p>
            <a:pPr defTabSz="877824">
              <a:spcAft>
                <a:spcPts val="600"/>
              </a:spcAft>
            </a:pPr>
            <a:r>
              <a:rPr lang="en-US" sz="1000" kern="1200" dirty="0">
                <a:latin typeface="+mn-lt"/>
                <a:ea typeface="+mn-ea"/>
                <a:cs typeface="+mn-cs"/>
              </a:rPr>
              <a:t>Create a new EMT DevTest subscription with proper controls:</a:t>
            </a:r>
          </a:p>
          <a:p>
            <a:pPr defTabSz="877824">
              <a:spcAft>
                <a:spcPts val="600"/>
              </a:spcAft>
            </a:pPr>
            <a:r>
              <a:rPr lang="en-GB" sz="1000" dirty="0"/>
              <a:t>Rename existing "EMT DevTest" → "EMT Sandbox“ and use it as experimental/sandbox environment</a:t>
            </a:r>
          </a:p>
          <a:p>
            <a:pPr defTabSz="877824">
              <a:spcAft>
                <a:spcPts val="600"/>
              </a:spcAft>
            </a:pPr>
            <a:r>
              <a:rPr lang="en-US" sz="1000" dirty="0"/>
              <a:t>Remove orphaned and unused resources in the current EMT DevTest</a:t>
            </a:r>
            <a:endParaRPr lang="en-GB" sz="1000" dirty="0"/>
          </a:p>
          <a:p>
            <a:pPr defTabSz="877824">
              <a:spcAft>
                <a:spcPts val="600"/>
              </a:spcAft>
            </a:pPr>
            <a:r>
              <a:rPr lang="en-GB" sz="1920" b="1" kern="1200" dirty="0">
                <a:solidFill>
                  <a:schemeClr val="tx1"/>
                </a:solidFill>
                <a:latin typeface="+mn-lt"/>
                <a:ea typeface="+mn-ea"/>
                <a:cs typeface="+mn-cs"/>
              </a:rPr>
              <a:t>Business Need</a:t>
            </a:r>
          </a:p>
          <a:p>
            <a:pPr marL="171450" indent="-171450" defTabSz="877824">
              <a:spcAft>
                <a:spcPts val="600"/>
              </a:spcAft>
              <a:buFont typeface="Arial" panose="020B0604020202020204" pitchFamily="34" charset="0"/>
              <a:buChar char="•"/>
            </a:pPr>
            <a:r>
              <a:rPr lang="en-US" sz="1050" kern="1200" dirty="0">
                <a:latin typeface="+mn-lt"/>
                <a:ea typeface="+mn-ea"/>
                <a:cs typeface="+mn-cs"/>
              </a:rPr>
              <a:t>Establish proper security and compliance controls</a:t>
            </a:r>
          </a:p>
          <a:p>
            <a:pPr marL="171450" indent="-171450" defTabSz="877824">
              <a:spcAft>
                <a:spcPts val="600"/>
              </a:spcAft>
              <a:buFont typeface="Arial" panose="020B0604020202020204" pitchFamily="34" charset="0"/>
              <a:buChar char="•"/>
            </a:pPr>
            <a:r>
              <a:rPr lang="en-US" sz="1050" dirty="0"/>
              <a:t>Delete orphaned resources</a:t>
            </a:r>
            <a:endParaRPr lang="en-GB" sz="1050" kern="1200" dirty="0">
              <a:latin typeface="+mn-lt"/>
              <a:ea typeface="+mn-ea"/>
              <a:cs typeface="+mn-cs"/>
            </a:endParaRPr>
          </a:p>
          <a:p>
            <a:pPr marL="171450" indent="-171450" defTabSz="877824">
              <a:spcAft>
                <a:spcPts val="600"/>
              </a:spcAft>
              <a:buFont typeface="Arial" panose="020B0604020202020204" pitchFamily="34" charset="0"/>
              <a:buChar char="•"/>
            </a:pPr>
            <a:r>
              <a:rPr lang="en-US" sz="1050" dirty="0"/>
              <a:t>Separate development resources from experimental/ sandbox work</a:t>
            </a:r>
          </a:p>
          <a:p>
            <a:pPr marL="171450" indent="-171450" defTabSz="877824">
              <a:spcAft>
                <a:spcPts val="600"/>
              </a:spcAft>
              <a:buFont typeface="Arial" panose="020B0604020202020204" pitchFamily="34" charset="0"/>
              <a:buChar char="•"/>
            </a:pPr>
            <a:r>
              <a:rPr lang="en-GB" sz="1050" dirty="0"/>
              <a:t>Implement standardized subscription management practices (like other EMT subscriptions)</a:t>
            </a:r>
          </a:p>
          <a:p>
            <a:pPr defTabSz="877824">
              <a:spcAft>
                <a:spcPts val="600"/>
              </a:spcAft>
            </a:pPr>
            <a:r>
              <a:rPr lang="en-GB" sz="1920" b="1" kern="1200" dirty="0">
                <a:solidFill>
                  <a:schemeClr val="tx1"/>
                </a:solidFill>
                <a:latin typeface="+mn-lt"/>
                <a:ea typeface="+mn-ea"/>
                <a:cs typeface="+mn-cs"/>
              </a:rPr>
              <a:t>Objectives and Key Results (OKR’s)</a:t>
            </a:r>
          </a:p>
          <a:p>
            <a:pPr marL="171450" indent="-171450" defTabSz="877824">
              <a:spcAft>
                <a:spcPts val="600"/>
              </a:spcAft>
              <a:buFont typeface="Arial" panose="020B0604020202020204" pitchFamily="34" charset="0"/>
              <a:buChar char="•"/>
            </a:pPr>
            <a:r>
              <a:rPr lang="en-US" sz="1050" dirty="0"/>
              <a:t>Reduced operational costs through resource optimization</a:t>
            </a:r>
          </a:p>
          <a:p>
            <a:pPr marL="171450" indent="-171450" defTabSz="877824">
              <a:spcAft>
                <a:spcPts val="600"/>
              </a:spcAft>
              <a:buFont typeface="Arial" panose="020B0604020202020204" pitchFamily="34" charset="0"/>
              <a:buChar char="•"/>
            </a:pPr>
            <a:r>
              <a:rPr lang="en-US" sz="1050" dirty="0"/>
              <a:t>Enhanced security posture with proper access controls for the new EMT DevTest</a:t>
            </a:r>
          </a:p>
          <a:p>
            <a:pPr marL="171450" indent="-171450" defTabSz="877824">
              <a:spcAft>
                <a:spcPts val="600"/>
              </a:spcAft>
              <a:buFont typeface="Arial" panose="020B0604020202020204" pitchFamily="34" charset="0"/>
              <a:buChar char="•"/>
            </a:pPr>
            <a:r>
              <a:rPr lang="en-US" sz="1050" dirty="0"/>
              <a:t>Clear separation of development and sandbox subscriptions</a:t>
            </a:r>
          </a:p>
          <a:p>
            <a:pPr marL="171450" indent="-171450" defTabSz="877824">
              <a:spcAft>
                <a:spcPts val="600"/>
              </a:spcAft>
              <a:buFont typeface="Arial" panose="020B0604020202020204" pitchFamily="34" charset="0"/>
              <a:buChar char="•"/>
            </a:pPr>
            <a:r>
              <a:rPr lang="en-US" sz="1050" dirty="0"/>
              <a:t>Improved resource governance and accountability</a:t>
            </a:r>
            <a:endParaRPr lang="en-GB" sz="1050" dirty="0"/>
          </a:p>
        </p:txBody>
      </p:sp>
      <p:sp>
        <p:nvSpPr>
          <p:cNvPr id="5" name="Rectangle 4">
            <a:extLst>
              <a:ext uri="{FF2B5EF4-FFF2-40B4-BE49-F238E27FC236}">
                <a16:creationId xmlns:a16="http://schemas.microsoft.com/office/drawing/2014/main" id="{59F1EDE3-82A2-6BB7-5459-D7F7B3F5A073}"/>
              </a:ext>
            </a:extLst>
          </p:cNvPr>
          <p:cNvSpPr/>
          <p:nvPr/>
        </p:nvSpPr>
        <p:spPr>
          <a:xfrm>
            <a:off x="7530017" y="1584085"/>
            <a:ext cx="4463459" cy="491228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77824">
              <a:spcAft>
                <a:spcPts val="600"/>
              </a:spcAft>
            </a:pPr>
            <a:r>
              <a:rPr lang="en-GB" sz="1536" b="1" kern="1200">
                <a:solidFill>
                  <a:schemeClr val="tx2"/>
                </a:solidFill>
                <a:latin typeface="BG Flame" panose="02000504040000020004" pitchFamily="2" charset="0"/>
                <a:ea typeface="+mn-ea"/>
                <a:cs typeface="Arial" panose="020B0604020202020204" pitchFamily="34" charset="0"/>
              </a:rPr>
              <a:t>Engagement checklist</a:t>
            </a:r>
            <a:endParaRPr lang="en-GB" sz="1600" b="1">
              <a:solidFill>
                <a:schemeClr val="tx2"/>
              </a:solidFill>
              <a:latin typeface="BG Flame" panose="02000504040000020004" pitchFamily="2" charset="0"/>
              <a:cs typeface="Arial" panose="020B0604020202020204" pitchFamily="34" charset="0"/>
            </a:endParaRPr>
          </a:p>
        </p:txBody>
      </p:sp>
      <p:graphicFrame>
        <p:nvGraphicFramePr>
          <p:cNvPr id="6" name="Table 5">
            <a:extLst>
              <a:ext uri="{FF2B5EF4-FFF2-40B4-BE49-F238E27FC236}">
                <a16:creationId xmlns:a16="http://schemas.microsoft.com/office/drawing/2014/main" id="{7F67A169-7525-1159-F0D1-41374716DA8D}"/>
              </a:ext>
            </a:extLst>
          </p:cNvPr>
          <p:cNvGraphicFramePr>
            <a:graphicFrameLocks noGrp="1"/>
          </p:cNvGraphicFramePr>
          <p:nvPr>
            <p:extLst>
              <p:ext uri="{D42A27DB-BD31-4B8C-83A1-F6EECF244321}">
                <p14:modId xmlns:p14="http://schemas.microsoft.com/office/powerpoint/2010/main" val="356066008"/>
              </p:ext>
            </p:extLst>
          </p:nvPr>
        </p:nvGraphicFramePr>
        <p:xfrm>
          <a:off x="7685492" y="1887385"/>
          <a:ext cx="4156215" cy="4516682"/>
        </p:xfrm>
        <a:graphic>
          <a:graphicData uri="http://schemas.openxmlformats.org/drawingml/2006/table">
            <a:tbl>
              <a:tblPr firstRow="1" bandRow="1">
                <a:tableStyleId>{9D7B26C5-4107-4FEC-AEDC-1716B250A1EF}</a:tableStyleId>
              </a:tblPr>
              <a:tblGrid>
                <a:gridCol w="2416971">
                  <a:extLst>
                    <a:ext uri="{9D8B030D-6E8A-4147-A177-3AD203B41FA5}">
                      <a16:colId xmlns:a16="http://schemas.microsoft.com/office/drawing/2014/main" val="1400759074"/>
                    </a:ext>
                  </a:extLst>
                </a:gridCol>
                <a:gridCol w="1739244">
                  <a:extLst>
                    <a:ext uri="{9D8B030D-6E8A-4147-A177-3AD203B41FA5}">
                      <a16:colId xmlns:a16="http://schemas.microsoft.com/office/drawing/2014/main" val="169992085"/>
                    </a:ext>
                  </a:extLst>
                </a:gridCol>
              </a:tblGrid>
              <a:tr h="266964">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rPr>
                        <a:t>Aligned to </a:t>
                      </a:r>
                      <a:r>
                        <a:rPr lang="en-GB" sz="1000">
                          <a:hlinkClick r:id="rId2"/>
                        </a:rPr>
                        <a:t>Group Cloud Principles</a:t>
                      </a:r>
                      <a:r>
                        <a:rPr lang="en-GB" sz="1000"/>
                        <a:t> </a:t>
                      </a:r>
                      <a:r>
                        <a:rPr lang="en-GB" sz="1000" b="0" kern="1200">
                          <a:solidFill>
                            <a:srgbClr val="223165"/>
                          </a:solidFill>
                          <a:latin typeface="BG Flame" panose="02000504040000020004" pitchFamily="2" charset="0"/>
                          <a:ea typeface="+mn-ea"/>
                          <a:cs typeface="Arial"/>
                        </a:rPr>
                        <a:t>or CE CCOE?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Yes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087724"/>
                  </a:ext>
                </a:extLst>
              </a:tr>
              <a:tr h="266964">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rPr>
                        <a:t>Aligned to </a:t>
                      </a:r>
                      <a:r>
                        <a:rPr lang="en-GB" sz="1000" b="0" kern="1200">
                          <a:solidFill>
                            <a:srgbClr val="223165"/>
                          </a:solidFill>
                          <a:latin typeface="BG Flame" panose="02000504040000020004" pitchFamily="2" charset="0"/>
                          <a:ea typeface="+mn-ea"/>
                          <a:cs typeface="Arial"/>
                          <a:hlinkClick r:id="rId3"/>
                        </a:rPr>
                        <a:t>Technology Strategy</a:t>
                      </a:r>
                      <a:r>
                        <a:rPr lang="en-GB" sz="1000" b="0" kern="1200">
                          <a:solidFill>
                            <a:srgbClr val="223165"/>
                          </a:solidFill>
                          <a:latin typeface="BG Flame" panose="02000504040000020004" pitchFamily="2" charset="0"/>
                          <a:ea typeface="+mn-ea"/>
                          <a:cs typeface="Arial"/>
                        </a:rPr>
                        <a:t>?</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Yes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3944338440"/>
                  </a:ext>
                </a:extLst>
              </a:tr>
              <a:tr h="266964">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rPr>
                        <a:t>Aligned to the </a:t>
                      </a:r>
                      <a:r>
                        <a:rPr lang="en-GB" sz="1000" b="0" kern="1200">
                          <a:solidFill>
                            <a:srgbClr val="223165"/>
                          </a:solidFill>
                          <a:latin typeface="BG Flame" panose="02000504040000020004" pitchFamily="2" charset="0"/>
                          <a:ea typeface="+mn-ea"/>
                          <a:cs typeface="Arial"/>
                          <a:hlinkClick r:id="rId4"/>
                        </a:rPr>
                        <a:t>A.I. Tech Strategy</a:t>
                      </a:r>
                      <a:r>
                        <a:rPr lang="en-GB" sz="1000" b="0" kern="1200">
                          <a:solidFill>
                            <a:srgbClr val="223165"/>
                          </a:solidFill>
                          <a:latin typeface="BG Flame" panose="02000504040000020004" pitchFamily="2" charset="0"/>
                          <a:ea typeface="+mn-ea"/>
                          <a:cs typeface="Arial"/>
                        </a:rPr>
                        <a:t>?</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NA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006721"/>
                  </a:ext>
                </a:extLst>
              </a:tr>
              <a:tr h="266964">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rPr>
                        <a:t>Do you have an approval or engagement with Centrica (group) EARB?</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NA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1333524"/>
                  </a:ext>
                </a:extLst>
              </a:tr>
              <a:tr h="355601">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rPr>
                        <a:t>Do you have an approval or engagement with CE ARB?</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Yes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8813929"/>
                  </a:ext>
                </a:extLst>
              </a:tr>
              <a:tr h="355601">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rPr>
                        <a:t>Do you have an approval from ISRB or engagement with security consultant engagement?</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No</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5656388"/>
                  </a:ext>
                </a:extLst>
              </a:tr>
              <a:tr h="355601">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US" sz="1000" b="0" kern="1200">
                          <a:solidFill>
                            <a:srgbClr val="223165"/>
                          </a:solidFill>
                          <a:latin typeface="BG Flame" panose="02000504040000020004" pitchFamily="2" charset="0"/>
                          <a:ea typeface="+mn-ea"/>
                          <a:cs typeface="Arial"/>
                        </a:rPr>
                        <a:t>Was the design reviewed by Centrica network architecture or CE network team?</a:t>
                      </a:r>
                      <a:endParaRPr lang="en-GB" sz="1000" b="0" kern="1200">
                        <a:solidFill>
                          <a:srgbClr val="223165"/>
                        </a:solidFill>
                        <a:latin typeface="BG Flame" panose="02000504040000020004" pitchFamily="2" charset="0"/>
                        <a:ea typeface="+mn-ea"/>
                        <a:cs typeface="Arial"/>
                      </a:endParaRP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Yes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0589401"/>
                  </a:ext>
                </a:extLst>
              </a:tr>
              <a:tr h="484910">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US" sz="1000" b="0" kern="1200">
                          <a:solidFill>
                            <a:srgbClr val="223165"/>
                          </a:solidFill>
                          <a:latin typeface="BG Flame" panose="02000504040000020004" pitchFamily="2" charset="0"/>
                          <a:ea typeface="+mn-ea"/>
                          <a:cs typeface="Arial"/>
                        </a:rPr>
                        <a:t>Is the submission for existing service or do you have new service design request raised? (if existing service, what is the name)</a:t>
                      </a:r>
                      <a:endParaRPr lang="en-GB" sz="1000" b="0" kern="1200">
                        <a:solidFill>
                          <a:srgbClr val="223165"/>
                        </a:solidFill>
                        <a:latin typeface="BG Flame" panose="02000504040000020004" pitchFamily="2" charset="0"/>
                        <a:ea typeface="+mn-ea"/>
                        <a:cs typeface="Arial"/>
                      </a:endParaRP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NA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1278609"/>
                  </a:ext>
                </a:extLst>
              </a:tr>
              <a:tr h="355601">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rPr>
                        <a:t>Do you have an approval or engagement with Centrica procurement or CE PMO?</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6"/>
                          </a:solidFill>
                          <a:latin typeface="BG Flame" panose="02000504040000020004" pitchFamily="2" charset="0"/>
                          <a:ea typeface="+mn-ea"/>
                          <a:cs typeface="Arial"/>
                        </a:rPr>
                        <a:t>NA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9997812"/>
                  </a:ext>
                </a:extLst>
              </a:tr>
              <a:tr h="266964">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rPr>
                        <a:t>Go Live Date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endParaRPr lang="en-GB" sz="1000" b="0" kern="1200" dirty="0">
                        <a:solidFill>
                          <a:schemeClr val="accent2"/>
                        </a:solidFill>
                        <a:latin typeface="BG Flame" panose="02000504040000020004" pitchFamily="2" charset="0"/>
                        <a:ea typeface="+mn-ea"/>
                        <a:cs typeface="Arial"/>
                      </a:endParaRP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3844791"/>
                  </a:ext>
                </a:extLst>
              </a:tr>
              <a:tr h="484910">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a:solidFill>
                            <a:srgbClr val="223165"/>
                          </a:solidFill>
                          <a:latin typeface="BG Flame" panose="02000504040000020004" pitchFamily="2" charset="0"/>
                          <a:ea typeface="+mn-ea"/>
                          <a:cs typeface="Arial"/>
                          <a:hlinkClick r:id="rId5"/>
                        </a:rPr>
                        <a:t>Service Business Criticality</a:t>
                      </a:r>
                      <a:endParaRPr lang="en-GB" sz="1000" b="0" kern="1200">
                        <a:solidFill>
                          <a:srgbClr val="223165"/>
                        </a:solidFill>
                        <a:latin typeface="BG Flame" panose="02000504040000020004" pitchFamily="2" charset="0"/>
                        <a:ea typeface="+mn-ea"/>
                        <a:cs typeface="Arial"/>
                      </a:endParaRP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6" rtl="0" eaLnBrk="1" fontAlgn="auto" latinLnBrk="0" hangingPunct="1">
                        <a:lnSpc>
                          <a:spcPct val="100000"/>
                        </a:lnSpc>
                        <a:spcBef>
                          <a:spcPts val="0"/>
                        </a:spcBef>
                        <a:spcAft>
                          <a:spcPts val="0"/>
                        </a:spcAft>
                        <a:buClrTx/>
                        <a:buSzTx/>
                        <a:buFontTx/>
                        <a:buNone/>
                        <a:tabLst/>
                        <a:defRPr/>
                      </a:pPr>
                      <a:r>
                        <a:rPr lang="en-GB" sz="1000" b="0" kern="1200" dirty="0">
                          <a:solidFill>
                            <a:schemeClr val="accent2"/>
                          </a:solidFill>
                          <a:latin typeface="BG Flame" panose="02000504040000020004" pitchFamily="2" charset="0"/>
                          <a:ea typeface="+mn-ea"/>
                          <a:cs typeface="Arial"/>
                        </a:rPr>
                        <a:t>Non-Critical</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2947744"/>
                  </a:ext>
                </a:extLst>
              </a:tr>
            </a:tbl>
          </a:graphicData>
        </a:graphic>
      </p:graphicFrame>
    </p:spTree>
    <p:extLst>
      <p:ext uri="{BB962C8B-B14F-4D97-AF65-F5344CB8AC3E}">
        <p14:creationId xmlns:p14="http://schemas.microsoft.com/office/powerpoint/2010/main" val="822134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Title 1">
            <a:extLst>
              <a:ext uri="{FF2B5EF4-FFF2-40B4-BE49-F238E27FC236}">
                <a16:creationId xmlns:a16="http://schemas.microsoft.com/office/drawing/2014/main" id="{9A74D9F8-ECD0-700D-D982-7A524F7FDA2F}"/>
              </a:ext>
            </a:extLst>
          </p:cNvPr>
          <p:cNvSpPr>
            <a:spLocks noGrp="1"/>
          </p:cNvSpPr>
          <p:nvPr>
            <p:ph type="title"/>
          </p:nvPr>
        </p:nvSpPr>
        <p:spPr>
          <a:xfrm>
            <a:off x="309349" y="348865"/>
            <a:ext cx="11106271" cy="877729"/>
          </a:xfrm>
        </p:spPr>
        <p:txBody>
          <a:bodyPr anchor="ctr">
            <a:normAutofit/>
          </a:bodyPr>
          <a:lstStyle/>
          <a:p>
            <a:r>
              <a:rPr lang="en-GB" sz="4000">
                <a:solidFill>
                  <a:srgbClr val="FFFFFF"/>
                </a:solidFill>
              </a:rPr>
              <a:t>Architecture Overview</a:t>
            </a:r>
            <a:endParaRPr lang="en-GB" sz="4000">
              <a:solidFill>
                <a:schemeClr val="accent6"/>
              </a:solidFill>
            </a:endParaRPr>
          </a:p>
        </p:txBody>
      </p:sp>
      <p:pic>
        <p:nvPicPr>
          <p:cNvPr id="42" name="Picture 41">
            <a:extLst>
              <a:ext uri="{FF2B5EF4-FFF2-40B4-BE49-F238E27FC236}">
                <a16:creationId xmlns:a16="http://schemas.microsoft.com/office/drawing/2014/main" id="{BDBEE952-5E67-2EC0-27BF-95D65DFDACF5}"/>
              </a:ext>
            </a:extLst>
          </p:cNvPr>
          <p:cNvPicPr>
            <a:picLocks noChangeAspect="1"/>
          </p:cNvPicPr>
          <p:nvPr/>
        </p:nvPicPr>
        <p:blipFill>
          <a:blip r:embed="rId3"/>
          <a:stretch>
            <a:fillRect/>
          </a:stretch>
        </p:blipFill>
        <p:spPr>
          <a:xfrm>
            <a:off x="367074" y="1709648"/>
            <a:ext cx="6605226" cy="4735601"/>
          </a:xfrm>
          <a:prstGeom prst="rect">
            <a:avLst/>
          </a:prstGeom>
        </p:spPr>
      </p:pic>
      <p:sp>
        <p:nvSpPr>
          <p:cNvPr id="43" name="Rectangle 42">
            <a:extLst>
              <a:ext uri="{FF2B5EF4-FFF2-40B4-BE49-F238E27FC236}">
                <a16:creationId xmlns:a16="http://schemas.microsoft.com/office/drawing/2014/main" id="{C7FEDC94-049D-A7E1-7B67-251C09375F1D}"/>
              </a:ext>
            </a:extLst>
          </p:cNvPr>
          <p:cNvSpPr/>
          <p:nvPr/>
        </p:nvSpPr>
        <p:spPr>
          <a:xfrm>
            <a:off x="7250431" y="1575955"/>
            <a:ext cx="45719" cy="52820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260615B3-5A08-FAA7-925D-1EE58E55B3EB}"/>
              </a:ext>
            </a:extLst>
          </p:cNvPr>
          <p:cNvSpPr txBox="1"/>
          <p:nvPr/>
        </p:nvSpPr>
        <p:spPr>
          <a:xfrm>
            <a:off x="7458075" y="2281148"/>
            <a:ext cx="4572000" cy="3162404"/>
          </a:xfrm>
          <a:prstGeom prst="rect">
            <a:avLst/>
          </a:prstGeom>
          <a:noFill/>
        </p:spPr>
        <p:txBody>
          <a:bodyPr wrap="square" rtlCol="0">
            <a:spAutoFit/>
          </a:bodyPr>
          <a:lstStyle/>
          <a:p>
            <a:r>
              <a:rPr lang="en-US" sz="1050" b="1" dirty="0"/>
              <a:t>2 folds,</a:t>
            </a:r>
          </a:p>
          <a:p>
            <a:endParaRPr lang="en-US" sz="1050" b="1" dirty="0"/>
          </a:p>
          <a:p>
            <a:r>
              <a:rPr lang="en-US" sz="1050" b="1" dirty="0"/>
              <a:t>Cleanup Process</a:t>
            </a:r>
          </a:p>
          <a:p>
            <a:pPr marL="285750" indent="-285750">
              <a:buFont typeface="Arial" panose="020B0604020202020204" pitchFamily="34" charset="0"/>
              <a:buChar char="•"/>
            </a:pPr>
            <a:r>
              <a:rPr lang="en-US" sz="1050" dirty="0"/>
              <a:t>Resources categorized for deletion using Resource Graph Explorer queries</a:t>
            </a:r>
          </a:p>
          <a:p>
            <a:pPr marL="285750" indent="-285750">
              <a:buFont typeface="Arial" panose="020B0604020202020204" pitchFamily="34" charset="0"/>
              <a:buChar char="•"/>
            </a:pPr>
            <a:r>
              <a:rPr lang="en-US" sz="1050" dirty="0"/>
              <a:t>Resource Graph Queries (</a:t>
            </a:r>
            <a:r>
              <a:rPr lang="en-US" sz="1050" dirty="0">
                <a:hlinkClick r:id="rId4"/>
              </a:rPr>
              <a:t>link</a:t>
            </a:r>
            <a:r>
              <a:rPr lang="en-US" sz="1050" dirty="0"/>
              <a:t>) for the detailed resources list per category</a:t>
            </a:r>
          </a:p>
          <a:p>
            <a:pPr marL="285750" indent="-285750">
              <a:buFont typeface="Arial" panose="020B0604020202020204" pitchFamily="34" charset="0"/>
              <a:buChar char="•"/>
            </a:pPr>
            <a:r>
              <a:rPr lang="en-US" sz="1050" dirty="0"/>
              <a:t>Follow Cleanup Document (</a:t>
            </a:r>
            <a:r>
              <a:rPr lang="en-US" sz="1050" dirty="0">
                <a:hlinkClick r:id="rId5" action="ppaction://hlinksldjump"/>
              </a:rPr>
              <a:t>link</a:t>
            </a:r>
            <a:r>
              <a:rPr lang="en-US" sz="1050" dirty="0"/>
              <a:t>) for pre-deletion steps to be followed</a:t>
            </a:r>
          </a:p>
          <a:p>
            <a:pPr marL="742950" lvl="1" indent="-285750">
              <a:buFont typeface="Arial" panose="020B0604020202020204" pitchFamily="34" charset="0"/>
              <a:buChar char="•"/>
            </a:pPr>
            <a:r>
              <a:rPr lang="en-US" sz="1050" dirty="0"/>
              <a:t>Perform continual clean ups of the resources in the old EMT DevTest subscription </a:t>
            </a:r>
          </a:p>
          <a:p>
            <a:pPr marL="285750" indent="-285750">
              <a:buFont typeface="Arial" panose="020B0604020202020204" pitchFamily="34" charset="0"/>
              <a:buChar char="•"/>
            </a:pPr>
            <a:endParaRPr lang="en-US" sz="1050" dirty="0"/>
          </a:p>
          <a:p>
            <a:r>
              <a:rPr lang="en-US" sz="1050" b="1" dirty="0"/>
              <a:t>Migrations Steps</a:t>
            </a:r>
          </a:p>
          <a:p>
            <a:pPr marL="171450" indent="-171450">
              <a:buFont typeface="Arial" panose="020B0604020202020204" pitchFamily="34" charset="0"/>
              <a:buChar char="•"/>
            </a:pPr>
            <a:r>
              <a:rPr lang="en-US" sz="1050" dirty="0"/>
              <a:t>Dev resources to be recreated in the new EMT DevTest subscription (which has proper controls/ governance)</a:t>
            </a:r>
          </a:p>
          <a:p>
            <a:pPr marL="171450" indent="-171450">
              <a:buFont typeface="Arial" panose="020B0604020202020204" pitchFamily="34" charset="0"/>
              <a:buChar char="•"/>
            </a:pPr>
            <a:r>
              <a:rPr lang="en-US" sz="1050" dirty="0"/>
              <a:t>Validate the functionality, connectivity in the new subscription</a:t>
            </a:r>
          </a:p>
          <a:p>
            <a:pPr marL="171450" indent="-171450">
              <a:buFont typeface="Arial" panose="020B0604020202020204" pitchFamily="34" charset="0"/>
              <a:buChar char="•"/>
            </a:pPr>
            <a:r>
              <a:rPr lang="en-US" sz="1050" dirty="0"/>
              <a:t>Delete resources in the old EMT DevTest (EMT Sandbox) only after successful migration verifications</a:t>
            </a:r>
          </a:p>
          <a:p>
            <a:endParaRPr lang="en-US" sz="1050" dirty="0"/>
          </a:p>
          <a:p>
            <a:r>
              <a:rPr lang="en-US" sz="1050" dirty="0"/>
              <a:t> </a:t>
            </a:r>
          </a:p>
        </p:txBody>
      </p:sp>
    </p:spTree>
    <p:extLst>
      <p:ext uri="{BB962C8B-B14F-4D97-AF65-F5344CB8AC3E}">
        <p14:creationId xmlns:p14="http://schemas.microsoft.com/office/powerpoint/2010/main" val="4117159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25A6D4F-0D4D-028D-3318-7EB66CF2925B}"/>
              </a:ext>
            </a:extLst>
          </p:cNvPr>
          <p:cNvSpPr>
            <a:spLocks noGrp="1"/>
          </p:cNvSpPr>
          <p:nvPr>
            <p:ph type="title"/>
          </p:nvPr>
        </p:nvSpPr>
        <p:spPr>
          <a:xfrm>
            <a:off x="354842" y="335217"/>
            <a:ext cx="11060007" cy="877729"/>
          </a:xfrm>
        </p:spPr>
        <p:txBody>
          <a:bodyPr anchor="ctr">
            <a:normAutofit/>
          </a:bodyPr>
          <a:lstStyle/>
          <a:p>
            <a:r>
              <a:rPr lang="en-GB" sz="4000">
                <a:solidFill>
                  <a:srgbClr val="FFFFFF"/>
                </a:solidFill>
              </a:rPr>
              <a:t>Network and Security Requirements</a:t>
            </a:r>
          </a:p>
        </p:txBody>
      </p:sp>
      <p:sp>
        <p:nvSpPr>
          <p:cNvPr id="5" name="Content Placeholder 2">
            <a:extLst>
              <a:ext uri="{FF2B5EF4-FFF2-40B4-BE49-F238E27FC236}">
                <a16:creationId xmlns:a16="http://schemas.microsoft.com/office/drawing/2014/main" id="{220CD0B2-448B-5F21-046D-AB7DDE8F840F}"/>
              </a:ext>
            </a:extLst>
          </p:cNvPr>
          <p:cNvSpPr>
            <a:spLocks/>
          </p:cNvSpPr>
          <p:nvPr/>
        </p:nvSpPr>
        <p:spPr>
          <a:xfrm>
            <a:off x="208048" y="1550223"/>
            <a:ext cx="6483696" cy="415668"/>
          </a:xfrm>
          <a:prstGeom prst="rect">
            <a:avLst/>
          </a:prstGeom>
        </p:spPr>
        <p:txBody>
          <a:bodyPr>
            <a:normAutofit/>
          </a:bodyPr>
          <a:lstStyle/>
          <a:p>
            <a:pPr defTabSz="877824">
              <a:spcAft>
                <a:spcPts val="600"/>
              </a:spcAft>
            </a:pPr>
            <a:r>
              <a:rPr lang="en-GB" sz="1600" b="1" kern="1200" dirty="0">
                <a:solidFill>
                  <a:schemeClr val="tx1"/>
                </a:solidFill>
                <a:latin typeface="+mn-lt"/>
                <a:ea typeface="+mn-ea"/>
                <a:cs typeface="+mn-cs"/>
              </a:rPr>
              <a:t>Location</a:t>
            </a:r>
          </a:p>
        </p:txBody>
      </p:sp>
      <p:graphicFrame>
        <p:nvGraphicFramePr>
          <p:cNvPr id="6" name="Table 5">
            <a:extLst>
              <a:ext uri="{FF2B5EF4-FFF2-40B4-BE49-F238E27FC236}">
                <a16:creationId xmlns:a16="http://schemas.microsoft.com/office/drawing/2014/main" id="{C2DAE172-D985-0365-9E11-905F813F0C9C}"/>
              </a:ext>
            </a:extLst>
          </p:cNvPr>
          <p:cNvGraphicFramePr>
            <a:graphicFrameLocks noGrp="1"/>
          </p:cNvGraphicFramePr>
          <p:nvPr>
            <p:extLst>
              <p:ext uri="{D42A27DB-BD31-4B8C-83A1-F6EECF244321}">
                <p14:modId xmlns:p14="http://schemas.microsoft.com/office/powerpoint/2010/main" val="3117736647"/>
              </p:ext>
            </p:extLst>
          </p:nvPr>
        </p:nvGraphicFramePr>
        <p:xfrm>
          <a:off x="295677" y="1851205"/>
          <a:ext cx="8547333" cy="645656"/>
        </p:xfrm>
        <a:graphic>
          <a:graphicData uri="http://schemas.openxmlformats.org/drawingml/2006/table">
            <a:tbl>
              <a:tblPr bandRow="1">
                <a:tableStyleId>{5C22544A-7EE6-4342-B048-85BDC9FD1C3A}</a:tableStyleId>
              </a:tblPr>
              <a:tblGrid>
                <a:gridCol w="2849111">
                  <a:extLst>
                    <a:ext uri="{9D8B030D-6E8A-4147-A177-3AD203B41FA5}">
                      <a16:colId xmlns:a16="http://schemas.microsoft.com/office/drawing/2014/main" val="2409432149"/>
                    </a:ext>
                  </a:extLst>
                </a:gridCol>
                <a:gridCol w="2663732">
                  <a:extLst>
                    <a:ext uri="{9D8B030D-6E8A-4147-A177-3AD203B41FA5}">
                      <a16:colId xmlns:a16="http://schemas.microsoft.com/office/drawing/2014/main" val="880192184"/>
                    </a:ext>
                  </a:extLst>
                </a:gridCol>
                <a:gridCol w="3034490">
                  <a:extLst>
                    <a:ext uri="{9D8B030D-6E8A-4147-A177-3AD203B41FA5}">
                      <a16:colId xmlns:a16="http://schemas.microsoft.com/office/drawing/2014/main" val="3374821653"/>
                    </a:ext>
                  </a:extLst>
                </a:gridCol>
              </a:tblGrid>
              <a:tr h="243914">
                <a:tc>
                  <a:txBody>
                    <a:bodyPr/>
                    <a:lstStyle/>
                    <a:p>
                      <a:r>
                        <a:rPr lang="en-GB" sz="1000" dirty="0"/>
                        <a:t>Platform(s)</a:t>
                      </a:r>
                    </a:p>
                  </a:txBody>
                  <a:tcPr/>
                </a:tc>
                <a:tc>
                  <a:txBody>
                    <a:bodyPr/>
                    <a:lstStyle/>
                    <a:p>
                      <a:r>
                        <a:rPr lang="en-GB" sz="1000" dirty="0">
                          <a:solidFill>
                            <a:schemeClr val="tx1"/>
                          </a:solidFill>
                        </a:rPr>
                        <a:t>Azure</a:t>
                      </a:r>
                    </a:p>
                  </a:txBody>
                  <a:tcPr/>
                </a:tc>
                <a:tc>
                  <a:txBody>
                    <a:bodyPr/>
                    <a:lstStyle/>
                    <a:p>
                      <a:endParaRPr lang="en-GB" sz="1000" dirty="0">
                        <a:solidFill>
                          <a:schemeClr val="accent2"/>
                        </a:solidFill>
                      </a:endParaRPr>
                    </a:p>
                  </a:txBody>
                  <a:tcPr/>
                </a:tc>
                <a:extLst>
                  <a:ext uri="{0D108BD9-81ED-4DB2-BD59-A6C34878D82A}">
                    <a16:rowId xmlns:a16="http://schemas.microsoft.com/office/drawing/2014/main" val="2953872015"/>
                  </a:ext>
                </a:extLst>
              </a:tr>
              <a:tr h="401742">
                <a:tc>
                  <a:txBody>
                    <a:bodyPr/>
                    <a:lstStyle/>
                    <a:p>
                      <a:r>
                        <a:rPr lang="en-GB" sz="1000"/>
                        <a:t>Account/ Subscription</a:t>
                      </a:r>
                    </a:p>
                  </a:txBody>
                  <a:tcPr/>
                </a:tc>
                <a:tc>
                  <a:txBody>
                    <a:bodyPr/>
                    <a:lstStyle/>
                    <a:p>
                      <a:r>
                        <a:rPr lang="en-GB" sz="1000" dirty="0">
                          <a:solidFill>
                            <a:schemeClr val="tx1"/>
                          </a:solidFill>
                        </a:rPr>
                        <a:t>EMT DevTest (New subscription)</a:t>
                      </a:r>
                    </a:p>
                  </a:txBody>
                  <a:tcPr/>
                </a:tc>
                <a:tc>
                  <a:txBody>
                    <a:bodyPr/>
                    <a:lstStyle/>
                    <a:p>
                      <a:r>
                        <a:rPr lang="en-GB" sz="1000" dirty="0">
                          <a:solidFill>
                            <a:schemeClr val="tx1"/>
                          </a:solidFill>
                        </a:rPr>
                        <a:t>Proper controls to be in place</a:t>
                      </a:r>
                    </a:p>
                  </a:txBody>
                  <a:tcPr/>
                </a:tc>
                <a:extLst>
                  <a:ext uri="{0D108BD9-81ED-4DB2-BD59-A6C34878D82A}">
                    <a16:rowId xmlns:a16="http://schemas.microsoft.com/office/drawing/2014/main" val="1687315358"/>
                  </a:ext>
                </a:extLst>
              </a:tr>
            </a:tbl>
          </a:graphicData>
        </a:graphic>
      </p:graphicFrame>
      <p:sp>
        <p:nvSpPr>
          <p:cNvPr id="9" name="TextBox 8">
            <a:extLst>
              <a:ext uri="{FF2B5EF4-FFF2-40B4-BE49-F238E27FC236}">
                <a16:creationId xmlns:a16="http://schemas.microsoft.com/office/drawing/2014/main" id="{2E686B8D-71FB-CC8D-A8AF-2ECFA48DE6C7}"/>
              </a:ext>
            </a:extLst>
          </p:cNvPr>
          <p:cNvSpPr txBox="1"/>
          <p:nvPr/>
        </p:nvSpPr>
        <p:spPr>
          <a:xfrm>
            <a:off x="208048" y="4017040"/>
            <a:ext cx="6095276" cy="338554"/>
          </a:xfrm>
          <a:prstGeom prst="rect">
            <a:avLst/>
          </a:prstGeom>
          <a:noFill/>
        </p:spPr>
        <p:txBody>
          <a:bodyPr wrap="square">
            <a:spAutoFit/>
          </a:bodyPr>
          <a:lstStyle/>
          <a:p>
            <a:pPr defTabSz="877824">
              <a:spcAft>
                <a:spcPts val="600"/>
              </a:spcAft>
            </a:pPr>
            <a:r>
              <a:rPr lang="en-GB" sz="1600" b="1" kern="1200" dirty="0">
                <a:solidFill>
                  <a:schemeClr val="tx1"/>
                </a:solidFill>
                <a:latin typeface="+mn-lt"/>
                <a:ea typeface="+mn-ea"/>
                <a:cs typeface="+mn-cs"/>
              </a:rPr>
              <a:t>Access Controls</a:t>
            </a:r>
          </a:p>
        </p:txBody>
      </p:sp>
      <p:sp>
        <p:nvSpPr>
          <p:cNvPr id="12" name="TextBox 11">
            <a:extLst>
              <a:ext uri="{FF2B5EF4-FFF2-40B4-BE49-F238E27FC236}">
                <a16:creationId xmlns:a16="http://schemas.microsoft.com/office/drawing/2014/main" id="{4F1361ED-F4C0-0F6E-B56C-D9F1CEF4A2F2}"/>
              </a:ext>
            </a:extLst>
          </p:cNvPr>
          <p:cNvSpPr txBox="1"/>
          <p:nvPr/>
        </p:nvSpPr>
        <p:spPr>
          <a:xfrm>
            <a:off x="208048" y="5044837"/>
            <a:ext cx="6095276" cy="369332"/>
          </a:xfrm>
          <a:prstGeom prst="rect">
            <a:avLst/>
          </a:prstGeom>
          <a:noFill/>
        </p:spPr>
        <p:txBody>
          <a:bodyPr wrap="square">
            <a:spAutoFit/>
          </a:bodyPr>
          <a:lstStyle/>
          <a:p>
            <a:pPr defTabSz="877824">
              <a:spcAft>
                <a:spcPts val="600"/>
              </a:spcAft>
            </a:pPr>
            <a:r>
              <a:rPr lang="en-GB" sz="1800" b="1" kern="1200">
                <a:solidFill>
                  <a:schemeClr val="tx1"/>
                </a:solidFill>
                <a:latin typeface="+mn-lt"/>
                <a:ea typeface="+mn-ea"/>
                <a:cs typeface="+mn-cs"/>
              </a:rPr>
              <a:t>Data Classification</a:t>
            </a:r>
          </a:p>
        </p:txBody>
      </p:sp>
      <p:graphicFrame>
        <p:nvGraphicFramePr>
          <p:cNvPr id="14" name="Table 13">
            <a:extLst>
              <a:ext uri="{FF2B5EF4-FFF2-40B4-BE49-F238E27FC236}">
                <a16:creationId xmlns:a16="http://schemas.microsoft.com/office/drawing/2014/main" id="{7E57B141-9685-FE61-1F4A-F40ADAEBC7B0}"/>
              </a:ext>
            </a:extLst>
          </p:cNvPr>
          <p:cNvGraphicFramePr>
            <a:graphicFrameLocks noGrp="1"/>
          </p:cNvGraphicFramePr>
          <p:nvPr>
            <p:extLst>
              <p:ext uri="{D42A27DB-BD31-4B8C-83A1-F6EECF244321}">
                <p14:modId xmlns:p14="http://schemas.microsoft.com/office/powerpoint/2010/main" val="2636825655"/>
              </p:ext>
            </p:extLst>
          </p:nvPr>
        </p:nvGraphicFramePr>
        <p:xfrm>
          <a:off x="295676" y="4316889"/>
          <a:ext cx="8547334" cy="1005840"/>
        </p:xfrm>
        <a:graphic>
          <a:graphicData uri="http://schemas.openxmlformats.org/drawingml/2006/table">
            <a:tbl>
              <a:tblPr bandRow="1">
                <a:tableStyleId>{5C22544A-7EE6-4342-B048-85BDC9FD1C3A}</a:tableStyleId>
              </a:tblPr>
              <a:tblGrid>
                <a:gridCol w="2849111">
                  <a:extLst>
                    <a:ext uri="{9D8B030D-6E8A-4147-A177-3AD203B41FA5}">
                      <a16:colId xmlns:a16="http://schemas.microsoft.com/office/drawing/2014/main" val="2409432149"/>
                    </a:ext>
                  </a:extLst>
                </a:gridCol>
                <a:gridCol w="1786698">
                  <a:extLst>
                    <a:ext uri="{9D8B030D-6E8A-4147-A177-3AD203B41FA5}">
                      <a16:colId xmlns:a16="http://schemas.microsoft.com/office/drawing/2014/main" val="880192184"/>
                    </a:ext>
                  </a:extLst>
                </a:gridCol>
                <a:gridCol w="3911525">
                  <a:extLst>
                    <a:ext uri="{9D8B030D-6E8A-4147-A177-3AD203B41FA5}">
                      <a16:colId xmlns:a16="http://schemas.microsoft.com/office/drawing/2014/main" val="3374821653"/>
                    </a:ext>
                  </a:extLst>
                </a:gridCol>
              </a:tblGrid>
              <a:tr h="249398">
                <a:tc>
                  <a:txBody>
                    <a:bodyPr/>
                    <a:lstStyle/>
                    <a:p>
                      <a:r>
                        <a:rPr lang="en-GB" sz="900"/>
                        <a:t>Authentication</a:t>
                      </a:r>
                    </a:p>
                  </a:txBody>
                  <a:tcPr/>
                </a:tc>
                <a:tc>
                  <a:txBody>
                    <a:bodyPr/>
                    <a:lstStyle/>
                    <a:p>
                      <a:r>
                        <a:rPr lang="en-GB" sz="900" dirty="0">
                          <a:solidFill>
                            <a:schemeClr val="tx1"/>
                          </a:solidFill>
                        </a:rPr>
                        <a:t>AAD</a:t>
                      </a:r>
                    </a:p>
                  </a:txBody>
                  <a:tcPr/>
                </a:tc>
                <a:tc>
                  <a:txBody>
                    <a:bodyPr/>
                    <a:lstStyle/>
                    <a:p>
                      <a:r>
                        <a:rPr lang="en-GB" sz="900" dirty="0">
                          <a:solidFill>
                            <a:schemeClr val="tx1"/>
                          </a:solidFill>
                        </a:rPr>
                        <a:t>Adhere to EMT Subscriptions</a:t>
                      </a:r>
                    </a:p>
                    <a:p>
                      <a:r>
                        <a:rPr lang="en-GB" sz="900" b="1" dirty="0">
                          <a:solidFill>
                            <a:schemeClr val="tx1"/>
                          </a:solidFill>
                        </a:rPr>
                        <a:t>EMT Preproduction: </a:t>
                      </a:r>
                      <a:r>
                        <a:rPr lang="en-GB" sz="900" dirty="0">
                          <a:solidFill>
                            <a:schemeClr val="tx1"/>
                          </a:solidFill>
                        </a:rPr>
                        <a:t>9fab4099-0a76-4178-80d4-3011597c9154</a:t>
                      </a:r>
                    </a:p>
                    <a:p>
                      <a:r>
                        <a:rPr lang="en-GB" sz="900" b="1" dirty="0">
                          <a:solidFill>
                            <a:schemeClr val="tx1"/>
                          </a:solidFill>
                        </a:rPr>
                        <a:t>EMT Production</a:t>
                      </a:r>
                      <a:r>
                        <a:rPr lang="en-GB" sz="900" dirty="0">
                          <a:solidFill>
                            <a:schemeClr val="tx1"/>
                          </a:solidFill>
                        </a:rPr>
                        <a:t>: 71f83568-809f-4b21-96b5-90502812d9e3</a:t>
                      </a:r>
                    </a:p>
                  </a:txBody>
                  <a:tcPr/>
                </a:tc>
                <a:extLst>
                  <a:ext uri="{0D108BD9-81ED-4DB2-BD59-A6C34878D82A}">
                    <a16:rowId xmlns:a16="http://schemas.microsoft.com/office/drawing/2014/main" val="2953872015"/>
                  </a:ext>
                </a:extLst>
              </a:tr>
              <a:tr h="249398">
                <a:tc>
                  <a:txBody>
                    <a:bodyPr/>
                    <a:lstStyle/>
                    <a:p>
                      <a:r>
                        <a:rPr lang="en-GB" sz="900" dirty="0"/>
                        <a:t>Authorization</a:t>
                      </a:r>
                    </a:p>
                  </a:txBody>
                  <a:tcPr/>
                </a:tc>
                <a:tc>
                  <a:txBody>
                    <a:bodyPr/>
                    <a:lstStyle/>
                    <a:p>
                      <a:r>
                        <a:rPr lang="en-GB" sz="900" dirty="0">
                          <a:solidFill>
                            <a:schemeClr val="tx1"/>
                          </a:solidFill>
                        </a:rPr>
                        <a:t>RBAC&gt;</a:t>
                      </a:r>
                    </a:p>
                  </a:txBody>
                  <a:tcPr/>
                </a:tc>
                <a:tc>
                  <a:txBody>
                    <a:bodyPr/>
                    <a:lstStyle/>
                    <a:p>
                      <a:r>
                        <a:rPr lang="en-GB" sz="900" dirty="0">
                          <a:solidFill>
                            <a:schemeClr val="tx1"/>
                          </a:solidFill>
                        </a:rPr>
                        <a:t>Adhere to EMT Subscriptions</a:t>
                      </a:r>
                    </a:p>
                    <a:p>
                      <a:r>
                        <a:rPr lang="en-GB" sz="900" b="1" dirty="0">
                          <a:solidFill>
                            <a:schemeClr val="tx1"/>
                          </a:solidFill>
                        </a:rPr>
                        <a:t>EMT Preproduction</a:t>
                      </a:r>
                      <a:r>
                        <a:rPr lang="en-GB" sz="900" dirty="0">
                          <a:solidFill>
                            <a:schemeClr val="tx1"/>
                          </a:solidFill>
                        </a:rPr>
                        <a:t>: 9fab4099-0a76-4178-80d4-3011597c9154</a:t>
                      </a:r>
                    </a:p>
                    <a:p>
                      <a:r>
                        <a:rPr lang="en-GB" sz="900" b="1" dirty="0">
                          <a:solidFill>
                            <a:schemeClr val="tx1"/>
                          </a:solidFill>
                        </a:rPr>
                        <a:t>EMT Production</a:t>
                      </a:r>
                      <a:r>
                        <a:rPr lang="en-GB" sz="900" dirty="0">
                          <a:solidFill>
                            <a:schemeClr val="tx1"/>
                          </a:solidFill>
                        </a:rPr>
                        <a:t>: 71f83568-809f-4b21-96b5-90502812d9e3</a:t>
                      </a:r>
                    </a:p>
                  </a:txBody>
                  <a:tcPr/>
                </a:tc>
                <a:extLst>
                  <a:ext uri="{0D108BD9-81ED-4DB2-BD59-A6C34878D82A}">
                    <a16:rowId xmlns:a16="http://schemas.microsoft.com/office/drawing/2014/main" val="1687315358"/>
                  </a:ext>
                </a:extLst>
              </a:tr>
            </a:tbl>
          </a:graphicData>
        </a:graphic>
      </p:graphicFrame>
      <p:graphicFrame>
        <p:nvGraphicFramePr>
          <p:cNvPr id="19" name="Table 18">
            <a:extLst>
              <a:ext uri="{FF2B5EF4-FFF2-40B4-BE49-F238E27FC236}">
                <a16:creationId xmlns:a16="http://schemas.microsoft.com/office/drawing/2014/main" id="{0B79A531-9EC3-899B-8F93-8DAA952BD586}"/>
              </a:ext>
            </a:extLst>
          </p:cNvPr>
          <p:cNvGraphicFramePr>
            <a:graphicFrameLocks noGrp="1"/>
          </p:cNvGraphicFramePr>
          <p:nvPr>
            <p:extLst>
              <p:ext uri="{D42A27DB-BD31-4B8C-83A1-F6EECF244321}">
                <p14:modId xmlns:p14="http://schemas.microsoft.com/office/powerpoint/2010/main" val="1956101741"/>
              </p:ext>
            </p:extLst>
          </p:nvPr>
        </p:nvGraphicFramePr>
        <p:xfrm>
          <a:off x="295676" y="5421152"/>
          <a:ext cx="8547334" cy="1246985"/>
        </p:xfrm>
        <a:graphic>
          <a:graphicData uri="http://schemas.openxmlformats.org/drawingml/2006/table">
            <a:tbl>
              <a:tblPr bandRow="1">
                <a:tableStyleId>{5C22544A-7EE6-4342-B048-85BDC9FD1C3A}</a:tableStyleId>
              </a:tblPr>
              <a:tblGrid>
                <a:gridCol w="2849111">
                  <a:extLst>
                    <a:ext uri="{9D8B030D-6E8A-4147-A177-3AD203B41FA5}">
                      <a16:colId xmlns:a16="http://schemas.microsoft.com/office/drawing/2014/main" val="2409432149"/>
                    </a:ext>
                  </a:extLst>
                </a:gridCol>
                <a:gridCol w="1824906">
                  <a:extLst>
                    <a:ext uri="{9D8B030D-6E8A-4147-A177-3AD203B41FA5}">
                      <a16:colId xmlns:a16="http://schemas.microsoft.com/office/drawing/2014/main" val="880192184"/>
                    </a:ext>
                  </a:extLst>
                </a:gridCol>
                <a:gridCol w="3873317">
                  <a:extLst>
                    <a:ext uri="{9D8B030D-6E8A-4147-A177-3AD203B41FA5}">
                      <a16:colId xmlns:a16="http://schemas.microsoft.com/office/drawing/2014/main" val="3374821653"/>
                    </a:ext>
                  </a:extLst>
                </a:gridCol>
              </a:tblGrid>
              <a:tr h="249397">
                <a:tc>
                  <a:txBody>
                    <a:bodyPr/>
                    <a:lstStyle/>
                    <a:p>
                      <a:r>
                        <a:rPr lang="en-GB" sz="900"/>
                        <a:t>Data Classification</a:t>
                      </a:r>
                    </a:p>
                  </a:txBody>
                  <a:tcPr/>
                </a:tc>
                <a:tc gridSpan="2">
                  <a:txBody>
                    <a:bodyPr/>
                    <a:lstStyle/>
                    <a:p>
                      <a:r>
                        <a:rPr lang="en-GB" sz="900" dirty="0"/>
                        <a:t>&lt;Highly Confidential / Confidential / Internal / Public / Production data&gt;</a:t>
                      </a:r>
                    </a:p>
                  </a:txBody>
                  <a:tcPr/>
                </a:tc>
                <a:tc hMerge="1">
                  <a:txBody>
                    <a:bodyPr/>
                    <a:lstStyle/>
                    <a:p>
                      <a:endParaRPr lang="en-GB" sz="1200"/>
                    </a:p>
                  </a:txBody>
                  <a:tcPr/>
                </a:tc>
                <a:extLst>
                  <a:ext uri="{0D108BD9-81ED-4DB2-BD59-A6C34878D82A}">
                    <a16:rowId xmlns:a16="http://schemas.microsoft.com/office/drawing/2014/main" val="2953872015"/>
                  </a:ext>
                </a:extLst>
              </a:tr>
              <a:tr h="249397">
                <a:tc>
                  <a:txBody>
                    <a:bodyPr/>
                    <a:lstStyle/>
                    <a:p>
                      <a:r>
                        <a:rPr lang="en-GB" sz="900"/>
                        <a:t>Regulatory Coverage</a:t>
                      </a:r>
                    </a:p>
                  </a:txBody>
                  <a:tcPr/>
                </a:tc>
                <a:tc>
                  <a:txBody>
                    <a:bodyPr/>
                    <a:lstStyle/>
                    <a:p>
                      <a:r>
                        <a:rPr lang="en-GB" sz="900" dirty="0"/>
                        <a:t>PCI-DSS</a:t>
                      </a:r>
                    </a:p>
                  </a:txBody>
                  <a:tcPr/>
                </a:tc>
                <a:tc>
                  <a:txBody>
                    <a:bodyPr/>
                    <a:lstStyle/>
                    <a:p>
                      <a:r>
                        <a:rPr lang="en-GB" sz="900" dirty="0">
                          <a:solidFill>
                            <a:schemeClr val="accent6"/>
                          </a:solidFill>
                        </a:rPr>
                        <a:t>No</a:t>
                      </a:r>
                    </a:p>
                  </a:txBody>
                  <a:tcPr/>
                </a:tc>
                <a:extLst>
                  <a:ext uri="{0D108BD9-81ED-4DB2-BD59-A6C34878D82A}">
                    <a16:rowId xmlns:a16="http://schemas.microsoft.com/office/drawing/2014/main" val="1687315358"/>
                  </a:ext>
                </a:extLst>
              </a:tr>
              <a:tr h="249397">
                <a:tc>
                  <a:txBody>
                    <a:bodyPr/>
                    <a:lstStyle/>
                    <a:p>
                      <a:endParaRPr lang="en-GB" sz="900"/>
                    </a:p>
                  </a:txBody>
                  <a:tcPr/>
                </a:tc>
                <a:tc>
                  <a:txBody>
                    <a:bodyPr/>
                    <a:lstStyle/>
                    <a:p>
                      <a:r>
                        <a:rPr lang="en-GB" sz="900"/>
                        <a:t>FCA</a:t>
                      </a:r>
                    </a:p>
                  </a:txBody>
                  <a:tcPr/>
                </a:tc>
                <a:tc>
                  <a:txBody>
                    <a:bodyPr/>
                    <a:lstStyle/>
                    <a:p>
                      <a:r>
                        <a:rPr lang="en-GB" sz="900" dirty="0">
                          <a:solidFill>
                            <a:schemeClr val="accent6"/>
                          </a:solidFill>
                        </a:rPr>
                        <a:t>No</a:t>
                      </a:r>
                    </a:p>
                  </a:txBody>
                  <a:tcPr/>
                </a:tc>
                <a:extLst>
                  <a:ext uri="{0D108BD9-81ED-4DB2-BD59-A6C34878D82A}">
                    <a16:rowId xmlns:a16="http://schemas.microsoft.com/office/drawing/2014/main" val="2665748206"/>
                  </a:ext>
                </a:extLst>
              </a:tr>
              <a:tr h="249397">
                <a:tc>
                  <a:txBody>
                    <a:bodyPr/>
                    <a:lstStyle/>
                    <a:p>
                      <a:endParaRPr lang="en-GB" sz="900"/>
                    </a:p>
                  </a:txBody>
                  <a:tcPr/>
                </a:tc>
                <a:tc>
                  <a:txBody>
                    <a:bodyPr/>
                    <a:lstStyle/>
                    <a:p>
                      <a:r>
                        <a:rPr lang="en-GB" sz="900"/>
                        <a:t>GDPR</a:t>
                      </a:r>
                    </a:p>
                  </a:txBody>
                  <a:tcPr/>
                </a:tc>
                <a:tc>
                  <a:txBody>
                    <a:bodyPr/>
                    <a:lstStyle/>
                    <a:p>
                      <a:r>
                        <a:rPr lang="en-GB" sz="900" dirty="0">
                          <a:solidFill>
                            <a:schemeClr val="accent6"/>
                          </a:solidFill>
                        </a:rPr>
                        <a:t>No</a:t>
                      </a:r>
                    </a:p>
                  </a:txBody>
                  <a:tcPr/>
                </a:tc>
                <a:extLst>
                  <a:ext uri="{0D108BD9-81ED-4DB2-BD59-A6C34878D82A}">
                    <a16:rowId xmlns:a16="http://schemas.microsoft.com/office/drawing/2014/main" val="1130315140"/>
                  </a:ext>
                </a:extLst>
              </a:tr>
              <a:tr h="249397">
                <a:tc>
                  <a:txBody>
                    <a:bodyPr/>
                    <a:lstStyle/>
                    <a:p>
                      <a:endParaRPr lang="en-GB" sz="900" dirty="0"/>
                    </a:p>
                  </a:txBody>
                  <a:tcPr/>
                </a:tc>
                <a:tc>
                  <a:txBody>
                    <a:bodyPr/>
                    <a:lstStyle/>
                    <a:p>
                      <a:r>
                        <a:rPr lang="en-GB" sz="900"/>
                        <a:t>Other</a:t>
                      </a:r>
                    </a:p>
                  </a:txBody>
                  <a:tcPr/>
                </a:tc>
                <a:tc>
                  <a:txBody>
                    <a:bodyPr/>
                    <a:lstStyle/>
                    <a:p>
                      <a:r>
                        <a:rPr lang="en-GB" sz="900" dirty="0">
                          <a:solidFill>
                            <a:schemeClr val="accent6"/>
                          </a:solidFill>
                        </a:rPr>
                        <a:t>No</a:t>
                      </a:r>
                    </a:p>
                  </a:txBody>
                  <a:tcPr/>
                </a:tc>
                <a:extLst>
                  <a:ext uri="{0D108BD9-81ED-4DB2-BD59-A6C34878D82A}">
                    <a16:rowId xmlns:a16="http://schemas.microsoft.com/office/drawing/2014/main" val="3312507533"/>
                  </a:ext>
                </a:extLst>
              </a:tr>
            </a:tbl>
          </a:graphicData>
        </a:graphic>
      </p:graphicFrame>
      <p:sp>
        <p:nvSpPr>
          <p:cNvPr id="3" name="Content Placeholder 2">
            <a:extLst>
              <a:ext uri="{FF2B5EF4-FFF2-40B4-BE49-F238E27FC236}">
                <a16:creationId xmlns:a16="http://schemas.microsoft.com/office/drawing/2014/main" id="{28940A38-CE84-45C0-7158-0658600544FC}"/>
              </a:ext>
            </a:extLst>
          </p:cNvPr>
          <p:cNvSpPr>
            <a:spLocks/>
          </p:cNvSpPr>
          <p:nvPr/>
        </p:nvSpPr>
        <p:spPr>
          <a:xfrm>
            <a:off x="208048" y="2485115"/>
            <a:ext cx="6483696" cy="415668"/>
          </a:xfrm>
          <a:prstGeom prst="rect">
            <a:avLst/>
          </a:prstGeom>
        </p:spPr>
        <p:txBody>
          <a:bodyPr>
            <a:normAutofit/>
          </a:bodyPr>
          <a:lstStyle/>
          <a:p>
            <a:pPr defTabSz="877824">
              <a:spcAft>
                <a:spcPts val="600"/>
              </a:spcAft>
            </a:pPr>
            <a:r>
              <a:rPr lang="en-GB" sz="1600" b="1" kern="1200" dirty="0">
                <a:solidFill>
                  <a:schemeClr val="tx1"/>
                </a:solidFill>
                <a:latin typeface="+mn-lt"/>
                <a:ea typeface="+mn-ea"/>
                <a:cs typeface="+mn-cs"/>
              </a:rPr>
              <a:t>Network Controls</a:t>
            </a:r>
          </a:p>
        </p:txBody>
      </p:sp>
      <p:graphicFrame>
        <p:nvGraphicFramePr>
          <p:cNvPr id="4" name="Table 3">
            <a:extLst>
              <a:ext uri="{FF2B5EF4-FFF2-40B4-BE49-F238E27FC236}">
                <a16:creationId xmlns:a16="http://schemas.microsoft.com/office/drawing/2014/main" id="{7A61DD4C-4EBB-3090-A2DA-B7807EC340D5}"/>
              </a:ext>
            </a:extLst>
          </p:cNvPr>
          <p:cNvGraphicFramePr>
            <a:graphicFrameLocks noGrp="1"/>
          </p:cNvGraphicFramePr>
          <p:nvPr>
            <p:extLst>
              <p:ext uri="{D42A27DB-BD31-4B8C-83A1-F6EECF244321}">
                <p14:modId xmlns:p14="http://schemas.microsoft.com/office/powerpoint/2010/main" val="1042143689"/>
              </p:ext>
            </p:extLst>
          </p:nvPr>
        </p:nvGraphicFramePr>
        <p:xfrm>
          <a:off x="295677" y="2790575"/>
          <a:ext cx="8547334" cy="1258864"/>
        </p:xfrm>
        <a:graphic>
          <a:graphicData uri="http://schemas.openxmlformats.org/drawingml/2006/table">
            <a:tbl>
              <a:tblPr bandRow="1">
                <a:tableStyleId>{5C22544A-7EE6-4342-B048-85BDC9FD1C3A}</a:tableStyleId>
              </a:tblPr>
              <a:tblGrid>
                <a:gridCol w="2849111">
                  <a:extLst>
                    <a:ext uri="{9D8B030D-6E8A-4147-A177-3AD203B41FA5}">
                      <a16:colId xmlns:a16="http://schemas.microsoft.com/office/drawing/2014/main" val="2409432149"/>
                    </a:ext>
                  </a:extLst>
                </a:gridCol>
                <a:gridCol w="1778209">
                  <a:extLst>
                    <a:ext uri="{9D8B030D-6E8A-4147-A177-3AD203B41FA5}">
                      <a16:colId xmlns:a16="http://schemas.microsoft.com/office/drawing/2014/main" val="880192184"/>
                    </a:ext>
                  </a:extLst>
                </a:gridCol>
                <a:gridCol w="3920014">
                  <a:extLst>
                    <a:ext uri="{9D8B030D-6E8A-4147-A177-3AD203B41FA5}">
                      <a16:colId xmlns:a16="http://schemas.microsoft.com/office/drawing/2014/main" val="3374821653"/>
                    </a:ext>
                  </a:extLst>
                </a:gridCol>
              </a:tblGrid>
              <a:tr h="249397">
                <a:tc>
                  <a:txBody>
                    <a:bodyPr/>
                    <a:lstStyle/>
                    <a:p>
                      <a:r>
                        <a:rPr lang="en-GB" sz="900" dirty="0"/>
                        <a:t>Any Public Ingress</a:t>
                      </a:r>
                    </a:p>
                  </a:txBody>
                  <a:tcPr/>
                </a:tc>
                <a:tc>
                  <a:txBody>
                    <a:bodyPr/>
                    <a:lstStyle/>
                    <a:p>
                      <a:r>
                        <a:rPr lang="en-GB" sz="900" dirty="0">
                          <a:solidFill>
                            <a:schemeClr val="tx1"/>
                          </a:solidFill>
                        </a:rPr>
                        <a:t>Yes/No</a:t>
                      </a:r>
                    </a:p>
                  </a:txBody>
                  <a:tcPr/>
                </a:tc>
                <a:tc>
                  <a:txBody>
                    <a:bodyPr/>
                    <a:lstStyle/>
                    <a:p>
                      <a:r>
                        <a:rPr lang="en-GB" sz="900" dirty="0">
                          <a:solidFill>
                            <a:schemeClr val="tx1"/>
                          </a:solidFill>
                        </a:rPr>
                        <a:t>Adhere to EMT Subscriptions</a:t>
                      </a:r>
                    </a:p>
                    <a:p>
                      <a:r>
                        <a:rPr lang="en-GB" sz="900" b="1" dirty="0">
                          <a:solidFill>
                            <a:schemeClr val="tx1"/>
                          </a:solidFill>
                        </a:rPr>
                        <a:t>EMT Preproduction</a:t>
                      </a:r>
                      <a:r>
                        <a:rPr lang="en-GB" sz="900" dirty="0">
                          <a:solidFill>
                            <a:schemeClr val="tx1"/>
                          </a:solidFill>
                        </a:rPr>
                        <a:t>: 9fab4099-0a76-4178-80d4-3011597c9154</a:t>
                      </a:r>
                    </a:p>
                    <a:p>
                      <a:r>
                        <a:rPr lang="en-GB" sz="900" b="1" dirty="0">
                          <a:solidFill>
                            <a:schemeClr val="tx1"/>
                          </a:solidFill>
                        </a:rPr>
                        <a:t>EMT Production</a:t>
                      </a:r>
                      <a:r>
                        <a:rPr lang="en-GB" sz="900" dirty="0">
                          <a:solidFill>
                            <a:schemeClr val="tx1"/>
                          </a:solidFill>
                        </a:rPr>
                        <a:t>: 71f83568-809f-4b21-96b5-90502812d9e3</a:t>
                      </a:r>
                    </a:p>
                  </a:txBody>
                  <a:tcPr/>
                </a:tc>
                <a:extLst>
                  <a:ext uri="{0D108BD9-81ED-4DB2-BD59-A6C34878D82A}">
                    <a16:rowId xmlns:a16="http://schemas.microsoft.com/office/drawing/2014/main" val="2953872015"/>
                  </a:ext>
                </a:extLst>
              </a:tr>
              <a:tr h="286978">
                <a:tc>
                  <a:txBody>
                    <a:bodyPr/>
                    <a:lstStyle/>
                    <a:p>
                      <a:r>
                        <a:rPr lang="en-GB" sz="900"/>
                        <a:t>Connected to Corp Network</a:t>
                      </a:r>
                    </a:p>
                  </a:txBody>
                  <a:tcPr/>
                </a:tc>
                <a:tc>
                  <a:txBody>
                    <a:bodyPr/>
                    <a:lstStyle/>
                    <a:p>
                      <a:r>
                        <a:rPr lang="en-GB" sz="900" dirty="0">
                          <a:solidFill>
                            <a:schemeClr val="tx1"/>
                          </a:solidFill>
                        </a:rPr>
                        <a:t>Yes</a:t>
                      </a:r>
                    </a:p>
                  </a:txBody>
                  <a:tcPr/>
                </a:tc>
                <a:tc>
                  <a:txBody>
                    <a:bodyPr/>
                    <a:lstStyle/>
                    <a:p>
                      <a:r>
                        <a:rPr lang="en-GB" sz="900" dirty="0">
                          <a:solidFill>
                            <a:schemeClr val="tx1"/>
                          </a:solidFill>
                        </a:rPr>
                        <a:t>Adhere to EMT Subscriptions</a:t>
                      </a:r>
                    </a:p>
                    <a:p>
                      <a:r>
                        <a:rPr lang="en-GB" sz="900" b="1" dirty="0">
                          <a:solidFill>
                            <a:schemeClr val="tx1"/>
                          </a:solidFill>
                        </a:rPr>
                        <a:t>EMT Preproduction</a:t>
                      </a:r>
                      <a:r>
                        <a:rPr lang="en-GB" sz="900" dirty="0">
                          <a:solidFill>
                            <a:schemeClr val="tx1"/>
                          </a:solidFill>
                        </a:rPr>
                        <a:t>: 9fab4099-0a76-4178-80d4-3011597c9154</a:t>
                      </a:r>
                    </a:p>
                    <a:p>
                      <a:r>
                        <a:rPr lang="en-GB" sz="900" b="1" dirty="0">
                          <a:solidFill>
                            <a:schemeClr val="tx1"/>
                          </a:solidFill>
                        </a:rPr>
                        <a:t>EMT Production</a:t>
                      </a:r>
                      <a:r>
                        <a:rPr lang="en-GB" sz="900" dirty="0">
                          <a:solidFill>
                            <a:schemeClr val="tx1"/>
                          </a:solidFill>
                        </a:rPr>
                        <a:t>: 71f83568-809f-4b21-96b5-90502812d9e3</a:t>
                      </a:r>
                    </a:p>
                  </a:txBody>
                  <a:tcPr/>
                </a:tc>
                <a:extLst>
                  <a:ext uri="{0D108BD9-81ED-4DB2-BD59-A6C34878D82A}">
                    <a16:rowId xmlns:a16="http://schemas.microsoft.com/office/drawing/2014/main" val="1687315358"/>
                  </a:ext>
                </a:extLst>
              </a:tr>
              <a:tr h="253024">
                <a:tc>
                  <a:txBody>
                    <a:bodyPr/>
                    <a:lstStyle/>
                    <a:p>
                      <a:r>
                        <a:rPr lang="en-GB" sz="900" dirty="0"/>
                        <a:t>Access to service via</a:t>
                      </a:r>
                    </a:p>
                  </a:txBody>
                  <a:tcPr/>
                </a:tc>
                <a:tc>
                  <a:txBody>
                    <a:bodyPr/>
                    <a:lstStyle/>
                    <a:p>
                      <a:r>
                        <a:rPr lang="en-GB" sz="900" dirty="0">
                          <a:solidFill>
                            <a:schemeClr val="tx1"/>
                          </a:solidFill>
                        </a:rPr>
                        <a:t>&lt;SSL / SSH / RDP / other&gt;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dirty="0">
                        <a:solidFill>
                          <a:schemeClr val="tx1"/>
                        </a:solidFill>
                      </a:endParaRPr>
                    </a:p>
                  </a:txBody>
                  <a:tcPr/>
                </a:tc>
                <a:extLst>
                  <a:ext uri="{0D108BD9-81ED-4DB2-BD59-A6C34878D82A}">
                    <a16:rowId xmlns:a16="http://schemas.microsoft.com/office/drawing/2014/main" val="3910650940"/>
                  </a:ext>
                </a:extLst>
              </a:tr>
            </a:tbl>
          </a:graphicData>
        </a:graphic>
      </p:graphicFrame>
    </p:spTree>
    <p:extLst>
      <p:ext uri="{BB962C8B-B14F-4D97-AF65-F5344CB8AC3E}">
        <p14:creationId xmlns:p14="http://schemas.microsoft.com/office/powerpoint/2010/main" val="2767188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25A6D4F-0D4D-028D-3318-7EB66CF2925B}"/>
              </a:ext>
            </a:extLst>
          </p:cNvPr>
          <p:cNvSpPr>
            <a:spLocks noGrp="1"/>
          </p:cNvSpPr>
          <p:nvPr>
            <p:ph type="title"/>
          </p:nvPr>
        </p:nvSpPr>
        <p:spPr>
          <a:xfrm>
            <a:off x="354842" y="335217"/>
            <a:ext cx="11060007" cy="877729"/>
          </a:xfrm>
        </p:spPr>
        <p:txBody>
          <a:bodyPr anchor="ctr">
            <a:normAutofit/>
          </a:bodyPr>
          <a:lstStyle/>
          <a:p>
            <a:r>
              <a:rPr lang="en-GB" sz="4000">
                <a:solidFill>
                  <a:srgbClr val="FFFFFF"/>
                </a:solidFill>
              </a:rPr>
              <a:t>Cloud Costs</a:t>
            </a:r>
          </a:p>
        </p:txBody>
      </p:sp>
      <p:sp>
        <p:nvSpPr>
          <p:cNvPr id="5" name="TextBox 4">
            <a:extLst>
              <a:ext uri="{FF2B5EF4-FFF2-40B4-BE49-F238E27FC236}">
                <a16:creationId xmlns:a16="http://schemas.microsoft.com/office/drawing/2014/main" id="{6CA902E6-06B9-87FC-D17D-D2197D0A9587}"/>
              </a:ext>
            </a:extLst>
          </p:cNvPr>
          <p:cNvSpPr txBox="1"/>
          <p:nvPr/>
        </p:nvSpPr>
        <p:spPr>
          <a:xfrm>
            <a:off x="660400" y="1809750"/>
            <a:ext cx="105664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All development workloads will be moved into the new EMT DevTest subscription</a:t>
            </a:r>
          </a:p>
          <a:p>
            <a:pPr marL="285750" indent="-285750">
              <a:buFont typeface="Arial" panose="020B0604020202020204" pitchFamily="34" charset="0"/>
              <a:buChar char="•"/>
            </a:pPr>
            <a:r>
              <a:rPr lang="en-US" dirty="0"/>
              <a:t>Orphaned resources will be deleted. Cost to be quantified (based on the resources to be deleted by Operations team)</a:t>
            </a:r>
          </a:p>
          <a:p>
            <a:pPr marL="285750" indent="-285750">
              <a:buFont typeface="Arial" panose="020B0604020202020204" pitchFamily="34" charset="0"/>
              <a:buChar char="•"/>
            </a:pPr>
            <a:r>
              <a:rPr lang="en-US" dirty="0"/>
              <a:t>Document to be referred for identifying the orphaned resources,</a:t>
            </a:r>
          </a:p>
          <a:p>
            <a:endParaRPr lang="en-US" dirty="0"/>
          </a:p>
        </p:txBody>
      </p:sp>
      <p:graphicFrame>
        <p:nvGraphicFramePr>
          <p:cNvPr id="6" name="Object 5">
            <a:extLst>
              <a:ext uri="{FF2B5EF4-FFF2-40B4-BE49-F238E27FC236}">
                <a16:creationId xmlns:a16="http://schemas.microsoft.com/office/drawing/2014/main" id="{1FAD3481-596F-8D09-B795-7FA868A23339}"/>
              </a:ext>
            </a:extLst>
          </p:cNvPr>
          <p:cNvGraphicFramePr>
            <a:graphicFrameLocks noChangeAspect="1"/>
          </p:cNvGraphicFramePr>
          <p:nvPr>
            <p:extLst>
              <p:ext uri="{D42A27DB-BD31-4B8C-83A1-F6EECF244321}">
                <p14:modId xmlns:p14="http://schemas.microsoft.com/office/powerpoint/2010/main" val="1217686358"/>
              </p:ext>
            </p:extLst>
          </p:nvPr>
        </p:nvGraphicFramePr>
        <p:xfrm>
          <a:off x="3562350" y="3025775"/>
          <a:ext cx="914400" cy="806450"/>
        </p:xfrm>
        <a:graphic>
          <a:graphicData uri="http://schemas.openxmlformats.org/presentationml/2006/ole">
            <mc:AlternateContent xmlns:mc="http://schemas.openxmlformats.org/markup-compatibility/2006">
              <mc:Choice xmlns:v="urn:schemas-microsoft-com:vml" Requires="v">
                <p:oleObj name="Document" showAsIcon="1" r:id="rId2" imgW="914400" imgH="806585" progId="Word.Document.12">
                  <p:embed/>
                </p:oleObj>
              </mc:Choice>
              <mc:Fallback>
                <p:oleObj name="Document" showAsIcon="1" r:id="rId2" imgW="914400" imgH="806585" progId="Word.Document.12">
                  <p:embed/>
                  <p:pic>
                    <p:nvPicPr>
                      <p:cNvPr id="0" name=""/>
                      <p:cNvPicPr/>
                      <p:nvPr/>
                    </p:nvPicPr>
                    <p:blipFill>
                      <a:blip r:embed="rId3"/>
                      <a:stretch>
                        <a:fillRect/>
                      </a:stretch>
                    </p:blipFill>
                    <p:spPr>
                      <a:xfrm>
                        <a:off x="3562350" y="3025775"/>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1516958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25A6D4F-0D4D-028D-3318-7EB66CF2925B}"/>
              </a:ext>
            </a:extLst>
          </p:cNvPr>
          <p:cNvSpPr>
            <a:spLocks noGrp="1"/>
          </p:cNvSpPr>
          <p:nvPr>
            <p:ph type="title"/>
          </p:nvPr>
        </p:nvSpPr>
        <p:spPr>
          <a:xfrm>
            <a:off x="354842" y="335217"/>
            <a:ext cx="11060007" cy="877729"/>
          </a:xfrm>
        </p:spPr>
        <p:txBody>
          <a:bodyPr anchor="ctr">
            <a:normAutofit/>
          </a:bodyPr>
          <a:lstStyle/>
          <a:p>
            <a:r>
              <a:rPr lang="en-GB" sz="4000">
                <a:solidFill>
                  <a:srgbClr val="FFFFFF"/>
                </a:solidFill>
              </a:rPr>
              <a:t>Engagement details</a:t>
            </a:r>
          </a:p>
        </p:txBody>
      </p:sp>
      <p:graphicFrame>
        <p:nvGraphicFramePr>
          <p:cNvPr id="10" name="Table 9">
            <a:extLst>
              <a:ext uri="{FF2B5EF4-FFF2-40B4-BE49-F238E27FC236}">
                <a16:creationId xmlns:a16="http://schemas.microsoft.com/office/drawing/2014/main" id="{DD8626A1-3535-CBB1-BC8C-AA99C68BF70B}"/>
              </a:ext>
            </a:extLst>
          </p:cNvPr>
          <p:cNvGraphicFramePr>
            <a:graphicFrameLocks noGrp="1"/>
          </p:cNvGraphicFramePr>
          <p:nvPr>
            <p:extLst>
              <p:ext uri="{D42A27DB-BD31-4B8C-83A1-F6EECF244321}">
                <p14:modId xmlns:p14="http://schemas.microsoft.com/office/powerpoint/2010/main" val="2232304393"/>
              </p:ext>
            </p:extLst>
          </p:nvPr>
        </p:nvGraphicFramePr>
        <p:xfrm>
          <a:off x="432883" y="1825624"/>
          <a:ext cx="11319971" cy="2595880"/>
        </p:xfrm>
        <a:graphic>
          <a:graphicData uri="http://schemas.openxmlformats.org/drawingml/2006/table">
            <a:tbl>
              <a:tblPr firstRow="1" bandRow="1">
                <a:tableStyleId>{5C22544A-7EE6-4342-B048-85BDC9FD1C3A}</a:tableStyleId>
              </a:tblPr>
              <a:tblGrid>
                <a:gridCol w="2933464">
                  <a:extLst>
                    <a:ext uri="{9D8B030D-6E8A-4147-A177-3AD203B41FA5}">
                      <a16:colId xmlns:a16="http://schemas.microsoft.com/office/drawing/2014/main" val="1764580040"/>
                    </a:ext>
                  </a:extLst>
                </a:gridCol>
                <a:gridCol w="1639146">
                  <a:extLst>
                    <a:ext uri="{9D8B030D-6E8A-4147-A177-3AD203B41FA5}">
                      <a16:colId xmlns:a16="http://schemas.microsoft.com/office/drawing/2014/main" val="369213714"/>
                    </a:ext>
                  </a:extLst>
                </a:gridCol>
                <a:gridCol w="3156374">
                  <a:extLst>
                    <a:ext uri="{9D8B030D-6E8A-4147-A177-3AD203B41FA5}">
                      <a16:colId xmlns:a16="http://schemas.microsoft.com/office/drawing/2014/main" val="622697617"/>
                    </a:ext>
                  </a:extLst>
                </a:gridCol>
                <a:gridCol w="1930400">
                  <a:extLst>
                    <a:ext uri="{9D8B030D-6E8A-4147-A177-3AD203B41FA5}">
                      <a16:colId xmlns:a16="http://schemas.microsoft.com/office/drawing/2014/main" val="3267798467"/>
                    </a:ext>
                  </a:extLst>
                </a:gridCol>
                <a:gridCol w="1660587">
                  <a:extLst>
                    <a:ext uri="{9D8B030D-6E8A-4147-A177-3AD203B41FA5}">
                      <a16:colId xmlns:a16="http://schemas.microsoft.com/office/drawing/2014/main" val="1681914209"/>
                    </a:ext>
                  </a:extLst>
                </a:gridCol>
              </a:tblGrid>
              <a:tr h="370840">
                <a:tc>
                  <a:txBody>
                    <a:bodyPr/>
                    <a:lstStyle/>
                    <a:p>
                      <a:endParaRPr lang="en-GB" sz="1400"/>
                    </a:p>
                  </a:txBody>
                  <a:tcPr/>
                </a:tc>
                <a:tc>
                  <a:txBody>
                    <a:bodyPr/>
                    <a:lstStyle/>
                    <a:p>
                      <a:r>
                        <a:rPr lang="en-GB" sz="1400"/>
                        <a:t>Request (RITM)</a:t>
                      </a:r>
                    </a:p>
                  </a:txBody>
                  <a:tcPr/>
                </a:tc>
                <a:tc>
                  <a:txBody>
                    <a:bodyPr/>
                    <a:lstStyle/>
                    <a:p>
                      <a:r>
                        <a:rPr lang="en-GB" sz="1400"/>
                        <a:t>Consultant/s</a:t>
                      </a:r>
                    </a:p>
                  </a:txBody>
                  <a:tcPr/>
                </a:tc>
                <a:tc>
                  <a:txBody>
                    <a:bodyPr/>
                    <a:lstStyle/>
                    <a:p>
                      <a:r>
                        <a:rPr lang="en-US" sz="1400"/>
                        <a:t>State</a:t>
                      </a:r>
                      <a:endParaRPr lang="en-GB" sz="1400"/>
                    </a:p>
                  </a:txBody>
                  <a:tcPr/>
                </a:tc>
                <a:tc>
                  <a:txBody>
                    <a:bodyPr/>
                    <a:lstStyle/>
                    <a:p>
                      <a:r>
                        <a:rPr lang="en-US" sz="1400"/>
                        <a:t>Date</a:t>
                      </a:r>
                      <a:endParaRPr lang="en-GB" sz="1400"/>
                    </a:p>
                  </a:txBody>
                  <a:tcPr/>
                </a:tc>
                <a:extLst>
                  <a:ext uri="{0D108BD9-81ED-4DB2-BD59-A6C34878D82A}">
                    <a16:rowId xmlns:a16="http://schemas.microsoft.com/office/drawing/2014/main" val="2030527450"/>
                  </a:ext>
                </a:extLst>
              </a:tr>
              <a:tr h="370840">
                <a:tc>
                  <a:txBody>
                    <a:bodyPr/>
                    <a:lstStyle/>
                    <a:p>
                      <a:r>
                        <a:rPr lang="en-US" sz="1400" b="1"/>
                        <a:t>Enterprise Architecture</a:t>
                      </a:r>
                      <a:endParaRPr lang="en-GB" sz="1400" b="1"/>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extLst>
                  <a:ext uri="{0D108BD9-81ED-4DB2-BD59-A6C34878D82A}">
                    <a16:rowId xmlns:a16="http://schemas.microsoft.com/office/drawing/2014/main" val="927458104"/>
                  </a:ext>
                </a:extLst>
              </a:tr>
              <a:tr h="370840">
                <a:tc>
                  <a:txBody>
                    <a:bodyPr/>
                    <a:lstStyle/>
                    <a:p>
                      <a:r>
                        <a:rPr lang="en-US" sz="1400" b="1"/>
                        <a:t>CE ARB</a:t>
                      </a:r>
                      <a:endParaRPr lang="en-GB" sz="1400" b="1"/>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extLst>
                  <a:ext uri="{0D108BD9-81ED-4DB2-BD59-A6C34878D82A}">
                    <a16:rowId xmlns:a16="http://schemas.microsoft.com/office/drawing/2014/main" val="1873363385"/>
                  </a:ext>
                </a:extLst>
              </a:tr>
              <a:tr h="370840">
                <a:tc>
                  <a:txBody>
                    <a:bodyPr/>
                    <a:lstStyle/>
                    <a:p>
                      <a:r>
                        <a:rPr lang="en-GB" sz="1400" b="1"/>
                        <a:t>Security team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RITM0925365 </a:t>
                      </a:r>
                      <a:endParaRPr kumimoji="0" lang="en-GB" sz="1200" b="0" i="0" u="none" strike="noStrike" kern="1200" cap="none" spc="0" normalizeH="0" baseline="0" noProof="0" dirty="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accent2"/>
                          </a:solidFill>
                          <a:effectLst/>
                          <a:uLnTx/>
                          <a:uFillTx/>
                          <a:latin typeface="Aptos" panose="02110004020202020204"/>
                          <a:ea typeface="+mn-ea"/>
                          <a:cs typeface="+mn-cs"/>
                        </a:rPr>
                        <a:t>Pending For Review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chemeClr val="accent2"/>
                          </a:solidFill>
                          <a:effectLst/>
                          <a:uLnTx/>
                          <a:uFillTx/>
                          <a:latin typeface="Aptos" panose="02110004020202020204"/>
                          <a:ea typeface="+mn-ea"/>
                          <a:cs typeface="+mn-cs"/>
                        </a:rPr>
                        <a:t>22/10/2025</a:t>
                      </a:r>
                    </a:p>
                  </a:txBody>
                  <a:tcPr/>
                </a:tc>
                <a:extLst>
                  <a:ext uri="{0D108BD9-81ED-4DB2-BD59-A6C34878D82A}">
                    <a16:rowId xmlns:a16="http://schemas.microsoft.com/office/drawing/2014/main" val="3977943542"/>
                  </a:ext>
                </a:extLst>
              </a:tr>
              <a:tr h="370840">
                <a:tc>
                  <a:txBody>
                    <a:bodyPr/>
                    <a:lstStyle/>
                    <a:p>
                      <a:r>
                        <a:rPr lang="en-GB" sz="1400" b="1"/>
                        <a:t>Network team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extLst>
                  <a:ext uri="{0D108BD9-81ED-4DB2-BD59-A6C34878D82A}">
                    <a16:rowId xmlns:a16="http://schemas.microsoft.com/office/drawing/2014/main" val="1402765802"/>
                  </a:ext>
                </a:extLst>
              </a:tr>
              <a:tr h="370840">
                <a:tc>
                  <a:txBody>
                    <a:bodyPr/>
                    <a:lstStyle/>
                    <a:p>
                      <a:r>
                        <a:rPr lang="en-GB" sz="1400" b="1"/>
                        <a:t>Service design and introduction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extLst>
                  <a:ext uri="{0D108BD9-81ED-4DB2-BD59-A6C34878D82A}">
                    <a16:rowId xmlns:a16="http://schemas.microsoft.com/office/drawing/2014/main" val="356052246"/>
                  </a:ext>
                </a:extLst>
              </a:tr>
              <a:tr h="370840">
                <a:tc>
                  <a:txBody>
                    <a:bodyPr/>
                    <a:lstStyle/>
                    <a:p>
                      <a:r>
                        <a:rPr lang="en-US" sz="1400" b="1"/>
                        <a:t>Procurement</a:t>
                      </a:r>
                      <a:endParaRPr lang="en-GB" sz="1400" b="1"/>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accent2"/>
                        </a:solidFill>
                        <a:effectLst/>
                        <a:uLnTx/>
                        <a:uFillTx/>
                        <a:latin typeface="Aptos" panose="0211000402020202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chemeClr val="accent2"/>
                        </a:solidFill>
                        <a:effectLst/>
                        <a:uLnTx/>
                        <a:uFillTx/>
                        <a:latin typeface="Aptos" panose="02110004020202020204"/>
                        <a:ea typeface="+mn-ea"/>
                        <a:cs typeface="+mn-cs"/>
                      </a:endParaRPr>
                    </a:p>
                  </a:txBody>
                  <a:tcPr/>
                </a:tc>
                <a:extLst>
                  <a:ext uri="{0D108BD9-81ED-4DB2-BD59-A6C34878D82A}">
                    <a16:rowId xmlns:a16="http://schemas.microsoft.com/office/drawing/2014/main" val="3581055761"/>
                  </a:ext>
                </a:extLst>
              </a:tr>
            </a:tbl>
          </a:graphicData>
        </a:graphic>
      </p:graphicFrame>
      <p:sp>
        <p:nvSpPr>
          <p:cNvPr id="3" name="Rectangle 2">
            <a:extLst>
              <a:ext uri="{FF2B5EF4-FFF2-40B4-BE49-F238E27FC236}">
                <a16:creationId xmlns:a16="http://schemas.microsoft.com/office/drawing/2014/main" id="{42D447AE-757C-AECC-40C8-A480DE5FA537}"/>
              </a:ext>
            </a:extLst>
          </p:cNvPr>
          <p:cNvSpPr/>
          <p:nvPr/>
        </p:nvSpPr>
        <p:spPr>
          <a:xfrm>
            <a:off x="449211" y="4567666"/>
            <a:ext cx="11287316" cy="9544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a:solidFill>
                  <a:schemeClr val="bg1"/>
                </a:solidFill>
              </a:rPr>
              <a:t>The information helps the approval process ensuring the dependent approvals are either completed or in progress.</a:t>
            </a:r>
            <a:endParaRPr lang="en-GB" sz="1800" b="1">
              <a:solidFill>
                <a:schemeClr val="bg1"/>
              </a:solidFill>
            </a:endParaRPr>
          </a:p>
        </p:txBody>
      </p:sp>
    </p:spTree>
    <p:extLst>
      <p:ext uri="{BB962C8B-B14F-4D97-AF65-F5344CB8AC3E}">
        <p14:creationId xmlns:p14="http://schemas.microsoft.com/office/powerpoint/2010/main" val="3798915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FD51A53-BEA5-247F-D46F-ADB37B1309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113" b="2"/>
          <a:stretch/>
        </p:blipFill>
        <p:spPr bwMode="auto">
          <a:xfrm>
            <a:off x="20" y="-22"/>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4">
            <a:extLst>
              <a:ext uri="{FF2B5EF4-FFF2-40B4-BE49-F238E27FC236}">
                <a16:creationId xmlns:a16="http://schemas.microsoft.com/office/drawing/2014/main" id="{9254CCFB-2C14-5DAB-1CF5-B286D341FE6E}"/>
              </a:ext>
            </a:extLst>
          </p:cNvPr>
          <p:cNvSpPr>
            <a:spLocks noGrp="1"/>
          </p:cNvSpPr>
          <p:nvPr>
            <p:ph type="subTitle" idx="1"/>
          </p:nvPr>
        </p:nvSpPr>
        <p:spPr>
          <a:xfrm>
            <a:off x="156223" y="6324730"/>
            <a:ext cx="11895655" cy="458207"/>
          </a:xfrm>
        </p:spPr>
        <p:txBody>
          <a:bodyPr anchor="b">
            <a:normAutofit/>
          </a:bodyPr>
          <a:lstStyle/>
          <a:p>
            <a:pPr algn="l"/>
            <a:r>
              <a:rPr lang="en-GB" sz="1100" i="1">
                <a:solidFill>
                  <a:srgbClr val="385BCD"/>
                </a:solidFill>
              </a:rPr>
              <a:t>Note. Approval of a simplified TDA submission does not replace the need for an HLTD, but serves to capture information at an early stage to be used in the HLTD later.</a:t>
            </a:r>
            <a:endParaRPr lang="en-GB" sz="1800" i="1">
              <a:solidFill>
                <a:srgbClr val="385BCD"/>
              </a:solidFill>
            </a:endParaRPr>
          </a:p>
        </p:txBody>
      </p:sp>
    </p:spTree>
    <p:extLst>
      <p:ext uri="{BB962C8B-B14F-4D97-AF65-F5344CB8AC3E}">
        <p14:creationId xmlns:p14="http://schemas.microsoft.com/office/powerpoint/2010/main" val="3276313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Title 1">
            <a:extLst>
              <a:ext uri="{FF2B5EF4-FFF2-40B4-BE49-F238E27FC236}">
                <a16:creationId xmlns:a16="http://schemas.microsoft.com/office/drawing/2014/main" id="{9A74D9F8-ECD0-700D-D982-7A524F7FDA2F}"/>
              </a:ext>
            </a:extLst>
          </p:cNvPr>
          <p:cNvSpPr>
            <a:spLocks noGrp="1"/>
          </p:cNvSpPr>
          <p:nvPr>
            <p:ph type="title"/>
          </p:nvPr>
        </p:nvSpPr>
        <p:spPr>
          <a:xfrm>
            <a:off x="309349" y="348865"/>
            <a:ext cx="11106271" cy="877729"/>
          </a:xfrm>
        </p:spPr>
        <p:txBody>
          <a:bodyPr anchor="ctr">
            <a:normAutofit/>
          </a:bodyPr>
          <a:lstStyle/>
          <a:p>
            <a:r>
              <a:rPr lang="en-GB" sz="4000">
                <a:solidFill>
                  <a:srgbClr val="FFFFFF"/>
                </a:solidFill>
              </a:rPr>
              <a:t>Architecture Overview - example</a:t>
            </a:r>
            <a:endParaRPr lang="en-GB" sz="4000">
              <a:solidFill>
                <a:schemeClr val="accent6"/>
              </a:solidFill>
            </a:endParaRPr>
          </a:p>
        </p:txBody>
      </p:sp>
      <p:pic>
        <p:nvPicPr>
          <p:cNvPr id="1026" name="Picture 2">
            <a:extLst>
              <a:ext uri="{FF2B5EF4-FFF2-40B4-BE49-F238E27FC236}">
                <a16:creationId xmlns:a16="http://schemas.microsoft.com/office/drawing/2014/main" id="{B0929678-9F38-ECF5-02EA-623A2F86A1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528"/>
          <a:stretch/>
        </p:blipFill>
        <p:spPr bwMode="auto">
          <a:xfrm>
            <a:off x="0" y="1628807"/>
            <a:ext cx="12192000" cy="5175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665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333f8f3-7051-4a1e-8d20-653e2e7f3a6b">
      <Terms xmlns="http://schemas.microsoft.com/office/infopath/2007/PartnerControls"/>
    </lcf76f155ced4ddcb4097134ff3c332f>
    <TaxCatchAll xmlns="917983aa-9c63-4726-9e22-8b656391f04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0C3C53433A86745A0E5071E238A6F18" ma:contentTypeVersion="12" ma:contentTypeDescription="Create a new document." ma:contentTypeScope="" ma:versionID="495614ff3aa825c11da1a7db3c4749ba">
  <xsd:schema xmlns:xsd="http://www.w3.org/2001/XMLSchema" xmlns:xs="http://www.w3.org/2001/XMLSchema" xmlns:p="http://schemas.microsoft.com/office/2006/metadata/properties" xmlns:ns2="7333f8f3-7051-4a1e-8d20-653e2e7f3a6b" xmlns:ns3="917983aa-9c63-4726-9e22-8b656391f047" targetNamespace="http://schemas.microsoft.com/office/2006/metadata/properties" ma:root="true" ma:fieldsID="1ecb453218f3dbebfafca1133d32dcd1" ns2:_="" ns3:_="">
    <xsd:import namespace="7333f8f3-7051-4a1e-8d20-653e2e7f3a6b"/>
    <xsd:import namespace="917983aa-9c63-4726-9e22-8b656391f0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33f8f3-7051-4a1e-8d20-653e2e7f3a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bbe8e03-2214-4631-8839-496c46f2d91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17983aa-9c63-4726-9e22-8b656391f04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c381894-f8a9-4771-ba12-b46a40bc1be2}" ma:internalName="TaxCatchAll" ma:showField="CatchAllData" ma:web="917983aa-9c63-4726-9e22-8b656391f04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49B9165-9A75-4931-9EBF-A2E66FAD3116}">
  <ds:schemaRefs>
    <ds:schemaRef ds:uri="7333f8f3-7051-4a1e-8d20-653e2e7f3a6b"/>
    <ds:schemaRef ds:uri="917983aa-9c63-4726-9e22-8b656391f04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3A24B27-E625-4EF8-B186-FE1C8182C4C1}">
  <ds:schemaRefs>
    <ds:schemaRef ds:uri="7333f8f3-7051-4a1e-8d20-653e2e7f3a6b"/>
    <ds:schemaRef ds:uri="917983aa-9c63-4726-9e22-8b656391f04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CED8E1E-E2AF-4C94-B12B-8B374197A990}">
  <ds:schemaRefs>
    <ds:schemaRef ds:uri="http://schemas.microsoft.com/sharepoint/v3/contenttype/forms"/>
  </ds:schemaRefs>
</ds:datastoreItem>
</file>

<file path=docMetadata/LabelInfo.xml><?xml version="1.0" encoding="utf-8"?>
<clbl:labelList xmlns:clbl="http://schemas.microsoft.com/office/2020/mipLabelMetadata">
  <clbl:label id="{065f1a46-1149-4b07-97f4-ee5ba49b485b}" enabled="1" method="Standard" siteId="{a603898f-7de2-45ba-b67d-d35fb519b2cf}" contentBits="0" removed="0"/>
</clbl:labelList>
</file>

<file path=docProps/app.xml><?xml version="1.0" encoding="utf-8"?>
<Properties xmlns="http://schemas.openxmlformats.org/officeDocument/2006/extended-properties" xmlns:vt="http://schemas.openxmlformats.org/officeDocument/2006/docPropsVTypes">
  <TotalTime>1426</TotalTime>
  <Words>1610</Words>
  <Application>Microsoft Office PowerPoint</Application>
  <PresentationFormat>Widescreen</PresentationFormat>
  <Paragraphs>188</Paragraphs>
  <Slides>9</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7" baseType="lpstr">
      <vt:lpstr>Aptos</vt:lpstr>
      <vt:lpstr>Aptos Display</vt:lpstr>
      <vt:lpstr>Arial</vt:lpstr>
      <vt:lpstr>BG Flame</vt:lpstr>
      <vt:lpstr>Calibri</vt:lpstr>
      <vt:lpstr>Segoe UI</vt:lpstr>
      <vt:lpstr>Office Theme</vt:lpstr>
      <vt:lpstr>Microsoft Word Document</vt:lpstr>
      <vt:lpstr>Template Guidance</vt:lpstr>
      <vt:lpstr>CE TARP</vt:lpstr>
      <vt:lpstr>Solution Overview / Business Requirements</vt:lpstr>
      <vt:lpstr>Architecture Overview</vt:lpstr>
      <vt:lpstr>Network and Security Requirements</vt:lpstr>
      <vt:lpstr>Cloud Costs</vt:lpstr>
      <vt:lpstr>Engagement details</vt:lpstr>
      <vt:lpstr>PowerPoint Presentation</vt:lpstr>
      <vt:lpstr>Architecture Overview -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Guidance</dc:title>
  <dc:creator>Peter Simons</dc:creator>
  <cp:lastModifiedBy>Vinoth Hariharasubramanian (C)</cp:lastModifiedBy>
  <cp:revision>89</cp:revision>
  <dcterms:created xsi:type="dcterms:W3CDTF">2024-07-12T10:23:58Z</dcterms:created>
  <dcterms:modified xsi:type="dcterms:W3CDTF">2025-10-22T08:36:52Z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0x01010030C3C53433A86745A0E5071E238A6F18</vt:lpwstr>
  </property>
  <property fmtid="{D5CDD505-2E9C-101B-9397-08002B2CF9AE}" pid="3" name="MediaServiceImageTags">
    <vt:lpwstr/>
  </property>
</Properties>
</file>